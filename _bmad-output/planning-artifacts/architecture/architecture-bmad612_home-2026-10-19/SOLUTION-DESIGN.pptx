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Companion document to ARCHITECTURE-SPINE.md. If the two diverge, the spine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Weight4All is an Angular 22 web app that stores one record per day (weight, mood, sleep) in Firestore, protected by per-user security rules, and shows them in four tabs: Today, History, Report,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server of our own. The browser talks directly to Firebase, and the security rules, not the app code, decide who can read or write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screens never talk to Firebase. They go only through the three services of the data layer, and only EntryStore can save or delete a day. All calculations (statistics, missing days, dashed lines, Happy-effect comparison) are pure functions in domain: they are tested quickly, with no Angular and no Firebase.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Feature-sliced Angular single-page app with one data-access boundary. Feature folders own their screens; a shared domain of pure functions owns all calculation; core/data is the only code that talks to Firebase.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day is a document: users/{uid}/entries/YYYY-MM-DD. The date is also the document name, so a day cannot have two records. Preferences (accent color and language) live in a separate document: users/{uid}/preferences/app.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 measure in the future (physical activity, food) is just a new optional field. Old days are never touched. The price of choosing separate fields is that the new measure must be added in three places: the single list of dimensions, the security rules and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loads all of the user's days once after login and keeps them in memory. History, Report, 'This week' and the missing-day sign are computed from there, which is why changing the range is instant. A day appears as saved only after the server confirms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loads all of the user's days once after login and keeps them in memory. History, Report, 'This week' and the missing-day sign are computed from there. A day appears as saved only after the server confirms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measure and range, a pure function prepares one point per day, with a value or empty. A point that ends a segment after one or more empty days is marked 'bridged'. Chart.js draws that segment dashed. The same procedure serves the combined chart (one scale per line) and the three single charts. Every chart also has a text table with the same data. Statistics use only real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Texts: one strings.ts file with Italian and English; if a language is missing, the project does not compile; switching is immediate. Numbers and dates: one module reads, rounds and formats. Look: Angular Material with the M3 theme, six accent colors switchable at runtime; chart colors are independent of the accent.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Release is manual (firebase deploy): first the rules, only after the rules tests pass, then the app. There is no automatic pipeline in version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fails if someone breaks the key rules: Firebase imports outside the data layer, direct use of the clock, dimension names written by hand, text written inside templates. Three levels of tests: pure functions (Vitest), security rules (emulator), full journeys (Playwright, at 360, 768 and 1280 px, completed in F4).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the risk table in SOLUTION-DESIGN.md section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wording, Binds / Prevents / Rule for each, is in ARCHITECTURE-SPINE.md.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Deferred: dark theme, custom range in the Report, CI and a staging environment, backup and monitoring, upgrade to Firebase 13. Next: validate the architecture in a fresh chat, create epics and stories, readiness check and sprint planning, then build F0.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49"/>
        </a:solidFill>
      </p:bgPr>
    </p:bg>
    <p:spTree>
      <p:nvGrpSpPr>
        <p:cNvPr id="1" name=""/>
        <p:cNvGrpSpPr/>
        <p:nvPr/>
      </p:nvGrpSpPr>
      <p:grpSpPr>
        <a:xfrm>
          <a:off x="0" y="0"/>
          <a:ext cx="0" cy="0"/>
          <a:chOff x="0" y="0"/>
          <a:chExt cx="0" cy="0"/>
        </a:xfrm>
      </p:grpSpPr>
      <p:sp>
        <p:nvSpPr>
          <p:cNvPr id="2" name="Text 0"/>
          <p:cNvSpPr/>
          <p:nvPr/>
        </p:nvSpPr>
        <p:spPr>
          <a:xfrm>
            <a:off x="640080" y="6446520"/>
            <a:ext cx="6400800" cy="274320"/>
          </a:xfrm>
          <a:prstGeom prst="rect">
            <a:avLst/>
          </a:prstGeom>
          <a:noFill/>
          <a:ln/>
        </p:spPr>
        <p:txBody>
          <a:bodyPr wrap="square" lIns="0" tIns="0" rIns="0" bIns="0" rtlCol="0" anchor="ctr"/>
          <a:lstStyle/>
          <a:p>
            <a:pPr indent="0" marL="0">
              <a:buNone/>
            </a:pPr>
            <a:r>
              <a:rPr lang="en-US" sz="1000" dirty="0">
                <a:solidFill>
                  <a:srgbClr val="9FC3C9"/>
                </a:solidFill>
                <a:latin typeface="Calibri" pitchFamily="34" charset="0"/>
                <a:ea typeface="Calibri" pitchFamily="34" charset="-122"/>
                <a:cs typeface="Calibri" pitchFamily="34" charset="-120"/>
              </a:rPr>
              <a:t>Weight4All · Solution Design</a:t>
            </a:r>
            <a:endParaRPr lang="en-US" sz="1000" dirty="0"/>
          </a:p>
        </p:txBody>
      </p:sp>
      <p:sp>
        <p:nvSpPr>
          <p:cNvPr id="3" name="Text 1"/>
          <p:cNvSpPr/>
          <p:nvPr/>
        </p:nvSpPr>
        <p:spPr>
          <a:xfrm>
            <a:off x="10634472" y="6446520"/>
            <a:ext cx="914400" cy="274320"/>
          </a:xfrm>
          <a:prstGeom prst="rect">
            <a:avLst/>
          </a:prstGeom>
          <a:noFill/>
          <a:ln/>
        </p:spPr>
        <p:txBody>
          <a:bodyPr wrap="square" lIns="0" tIns="0" rIns="0" bIns="0" rtlCol="0" anchor="ctr"/>
          <a:lstStyle/>
          <a:p>
            <a:pPr algn="r" indent="0" marL="0">
              <a:buNone/>
            </a:pPr>
            <a:r>
              <a:rPr lang="en-US" sz="1000" dirty="0">
                <a:solidFill>
                  <a:srgbClr val="9FC3C9"/>
                </a:solidFill>
                <a:latin typeface="Calibri" pitchFamily="34" charset="0"/>
                <a:ea typeface="Calibri" pitchFamily="34" charset="-122"/>
                <a:cs typeface="Calibri" pitchFamily="34" charset="-120"/>
              </a:rPr>
              <a:t>1</a:t>
            </a:r>
            <a:endParaRPr lang="en-US" sz="1000" dirty="0"/>
          </a:p>
        </p:txBody>
      </p:sp>
      <p:sp>
        <p:nvSpPr>
          <p:cNvPr id="5" name="Shape 2"/>
          <p:cNvSpPr/>
          <p:nvPr/>
        </p:nvSpPr>
        <p:spPr>
          <a:xfrm>
            <a:off x="8503920" y="1097280"/>
            <a:ext cx="3291840" cy="3291840"/>
          </a:xfrm>
          <a:prstGeom prst="ellipse">
            <a:avLst/>
          </a:prstGeom>
          <a:solidFill>
            <a:srgbClr val="028090"/>
          </a:solidFill>
          <a:ln w="12700">
            <a:solidFill>
              <a:srgbClr val="028090"/>
            </a:solidFill>
            <a:prstDash val="solid"/>
          </a:ln>
        </p:spPr>
      </p:sp>
      <p:sp>
        <p:nvSpPr>
          <p:cNvPr id="6" name="Shape 3"/>
          <p:cNvSpPr/>
          <p:nvPr/>
        </p:nvSpPr>
        <p:spPr>
          <a:xfrm>
            <a:off x="9966960" y="3291840"/>
            <a:ext cx="1737360" cy="1737360"/>
          </a:xfrm>
          <a:prstGeom prst="ellipse">
            <a:avLst/>
          </a:prstGeom>
          <a:solidFill>
            <a:srgbClr val="F96167"/>
          </a:solidFill>
          <a:ln w="12700">
            <a:solidFill>
              <a:srgbClr val="F96167"/>
            </a:solidFill>
            <a:prstDash val="solid"/>
          </a:ln>
        </p:spPr>
      </p:sp>
      <p:sp>
        <p:nvSpPr>
          <p:cNvPr id="7" name="Text 4"/>
          <p:cNvSpPr/>
          <p:nvPr/>
        </p:nvSpPr>
        <p:spPr>
          <a:xfrm>
            <a:off x="640080" y="1828800"/>
            <a:ext cx="7589520" cy="109728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Weight4All</a:t>
            </a:r>
            <a:endParaRPr lang="en-US" sz="6000" dirty="0"/>
          </a:p>
        </p:txBody>
      </p:sp>
      <p:sp>
        <p:nvSpPr>
          <p:cNvPr id="8" name="Text 5"/>
          <p:cNvSpPr/>
          <p:nvPr/>
        </p:nvSpPr>
        <p:spPr>
          <a:xfrm>
            <a:off x="640080" y="2926080"/>
            <a:ext cx="7589520" cy="640080"/>
          </a:xfrm>
          <a:prstGeom prst="rect">
            <a:avLst/>
          </a:prstGeom>
          <a:noFill/>
          <a:ln/>
        </p:spPr>
        <p:txBody>
          <a:bodyPr wrap="square" lIns="0" tIns="0" rIns="0" bIns="0" rtlCol="0" anchor="ctr"/>
          <a:lstStyle/>
          <a:p>
            <a:pPr indent="0" marL="0">
              <a:buNone/>
            </a:pPr>
            <a:r>
              <a:rPr lang="en-US" sz="3000" dirty="0">
                <a:solidFill>
                  <a:srgbClr val="BFE6E4"/>
                </a:solidFill>
                <a:latin typeface="Cambria" pitchFamily="34" charset="0"/>
                <a:ea typeface="Cambria" pitchFamily="34" charset="-122"/>
                <a:cs typeface="Cambria" pitchFamily="34" charset="-120"/>
              </a:rPr>
              <a:t>Solution Design</a:t>
            </a:r>
            <a:endParaRPr lang="en-US" sz="3000" dirty="0"/>
          </a:p>
        </p:txBody>
      </p:sp>
      <p:sp>
        <p:nvSpPr>
          <p:cNvPr id="9" name="Text 6"/>
          <p:cNvSpPr/>
          <p:nvPr/>
        </p:nvSpPr>
        <p:spPr>
          <a:xfrm>
            <a:off x="640080" y="3840480"/>
            <a:ext cx="7315200" cy="914400"/>
          </a:xfrm>
          <a:prstGeom prst="rect">
            <a:avLst/>
          </a:prstGeom>
          <a:noFill/>
          <a:ln/>
        </p:spPr>
        <p:txBody>
          <a:bodyPr wrap="square" lIns="0" tIns="0" rIns="0" bIns="0" rtlCol="0" anchor="ctr"/>
          <a:lstStyle/>
          <a:p>
            <a:pPr indent="0" marL="0">
              <a:buNone/>
            </a:pPr>
            <a:r>
              <a:rPr lang="en-US" sz="1800" dirty="0">
                <a:solidFill>
                  <a:srgbClr val="DCEFF0"/>
                </a:solidFill>
                <a:latin typeface="Calibri" pitchFamily="34" charset="0"/>
                <a:ea typeface="Calibri" pitchFamily="34" charset="-122"/>
                <a:cs typeface="Calibri" pitchFamily="34" charset="-120"/>
              </a:rPr>
              <a:t>Daily weight, mood and sleep in one place.</a:t>
            </a:r>
            <a:endParaRPr lang="en-US" sz="1800" dirty="0"/>
          </a:p>
          <a:p>
            <a:pPr indent="0" marL="0">
              <a:buNone/>
            </a:pPr>
            <a:r>
              <a:rPr lang="en-US" sz="1800" dirty="0">
                <a:solidFill>
                  <a:srgbClr val="DCEFF0"/>
                </a:solidFill>
                <a:latin typeface="Calibri" pitchFamily="34" charset="0"/>
                <a:ea typeface="Calibri" pitchFamily="34" charset="-122"/>
                <a:cs typeface="Calibri" pitchFamily="34" charset="-120"/>
              </a:rPr>
              <a:t>An Angular 22 web app on Firebase.</a:t>
            </a:r>
            <a:endParaRPr lang="en-US" sz="1800" dirty="0"/>
          </a:p>
        </p:txBody>
      </p:sp>
      <p:sp>
        <p:nvSpPr>
          <p:cNvPr id="10" name="Text 7"/>
          <p:cNvSpPr/>
          <p:nvPr/>
        </p:nvSpPr>
        <p:spPr>
          <a:xfrm>
            <a:off x="640080" y="6035040"/>
            <a:ext cx="9144000" cy="365760"/>
          </a:xfrm>
          <a:prstGeom prst="rect">
            <a:avLst/>
          </a:prstGeom>
          <a:noFill/>
          <a:ln/>
        </p:spPr>
        <p:txBody>
          <a:bodyPr wrap="square" lIns="0" tIns="0" rIns="0" bIns="0" rtlCol="0" anchor="ctr"/>
          <a:lstStyle/>
          <a:p>
            <a:pPr indent="0" marL="0">
              <a:buNone/>
            </a:pPr>
            <a:r>
              <a:rPr lang="en-US" sz="1200" dirty="0">
                <a:solidFill>
                  <a:srgbClr val="9FC3C9"/>
                </a:solidFill>
                <a:latin typeface="Calibri" pitchFamily="34" charset="0"/>
                <a:ea typeface="Calibri" pitchFamily="34" charset="-122"/>
                <a:cs typeface="Calibri" pitchFamily="34" charset="-120"/>
              </a:rPr>
              <a:t>19 October 2026 · companion of ARCHITECTURE-SPINE.md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08792" cy="82296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1. In one sentence</a:t>
            </a:r>
            <a:endParaRPr lang="en-US" sz="3200" dirty="0"/>
          </a:p>
        </p:txBody>
      </p:sp>
      <p:sp>
        <p:nvSpPr>
          <p:cNvPr id="3" name="Text 1"/>
          <p:cNvSpPr/>
          <p:nvPr/>
        </p:nvSpPr>
        <p:spPr>
          <a:xfrm>
            <a:off x="640080" y="6446520"/>
            <a:ext cx="6400800" cy="27432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Weight4All · Solution Design</a:t>
            </a:r>
            <a:endParaRPr lang="en-US" sz="1000" dirty="0"/>
          </a:p>
        </p:txBody>
      </p:sp>
      <p:sp>
        <p:nvSpPr>
          <p:cNvPr id="4" name="Text 2"/>
          <p:cNvSpPr/>
          <p:nvPr/>
        </p:nvSpPr>
        <p:spPr>
          <a:xfrm>
            <a:off x="10634472" y="6446520"/>
            <a:ext cx="914400" cy="274320"/>
          </a:xfrm>
          <a:prstGeom prst="rect">
            <a:avLst/>
          </a:prstGeom>
          <a:noFill/>
          <a:ln/>
        </p:spPr>
        <p:txBody>
          <a:bodyPr wrap="square" lIns="0" tIns="0" rIns="0" bIns="0" rtlCol="0" anchor="ctr"/>
          <a:lstStyle/>
          <a:p>
            <a:pPr algn="r" indent="0" marL="0">
              <a:buNone/>
            </a:pPr>
            <a:r>
              <a:rPr lang="en-US" sz="1000" dirty="0">
                <a:solidFill>
                  <a:srgbClr val="5B6B72"/>
                </a:solidFill>
                <a:latin typeface="Calibri" pitchFamily="34" charset="0"/>
                <a:ea typeface="Calibri" pitchFamily="34" charset="-122"/>
                <a:cs typeface="Calibri" pitchFamily="34" charset="-120"/>
              </a:rPr>
              <a:t>2</a:t>
            </a:r>
            <a:endParaRPr lang="en-US" sz="1000" dirty="0"/>
          </a:p>
        </p:txBody>
      </p:sp>
      <p:sp>
        <p:nvSpPr>
          <p:cNvPr id="6" name="Text 3"/>
          <p:cNvSpPr/>
          <p:nvPr/>
        </p:nvSpPr>
        <p:spPr>
          <a:xfrm>
            <a:off x="640080" y="1325880"/>
            <a:ext cx="10908792" cy="1005840"/>
          </a:xfrm>
          <a:prstGeom prst="rect">
            <a:avLst/>
          </a:prstGeom>
          <a:noFill/>
          <a:ln/>
        </p:spPr>
        <p:txBody>
          <a:bodyPr wrap="square" lIns="0" tIns="0" rIns="0" bIns="0" rtlCol="0" anchor="t"/>
          <a:lstStyle/>
          <a:p>
            <a:pPr indent="0" marL="0">
              <a:buNone/>
            </a:pPr>
            <a:r>
              <a:rPr lang="en-US" sz="2000" dirty="0">
                <a:solidFill>
                  <a:srgbClr val="1F2D33"/>
                </a:solidFill>
                <a:latin typeface="Calibri" pitchFamily="34" charset="0"/>
                <a:ea typeface="Calibri" pitchFamily="34" charset="-122"/>
                <a:cs typeface="Calibri" pitchFamily="34" charset="-120"/>
              </a:rPr>
              <a:t>An Angular 22 web app that stores one record per day (weight, mood, sleep) in Firestore, protected by per-user security rules, and shows it in four tabs: Today, History, Report, Settings.</a:t>
            </a:r>
            <a:endParaRPr lang="en-US" sz="2000" dirty="0"/>
          </a:p>
        </p:txBody>
      </p:sp>
      <p:sp>
        <p:nvSpPr>
          <p:cNvPr id="7" name="Shape 4"/>
          <p:cNvSpPr/>
          <p:nvPr/>
        </p:nvSpPr>
        <p:spPr>
          <a:xfrm>
            <a:off x="640080" y="2651760"/>
            <a:ext cx="3383280" cy="2926080"/>
          </a:xfrm>
          <a:prstGeom prst="roundRect">
            <a:avLst>
              <a:gd name="adj" fmla="val 4688"/>
            </a:avLst>
          </a:prstGeom>
          <a:solidFill>
            <a:srgbClr val="EAF6F6"/>
          </a:solidFill>
          <a:ln w="12700">
            <a:solidFill>
              <a:srgbClr val="EAF6F6"/>
            </a:solidFill>
            <a:prstDash val="solid"/>
          </a:ln>
        </p:spPr>
      </p:sp>
      <p:sp>
        <p:nvSpPr>
          <p:cNvPr id="8" name="Text 5"/>
          <p:cNvSpPr/>
          <p:nvPr/>
        </p:nvSpPr>
        <p:spPr>
          <a:xfrm>
            <a:off x="640080" y="2834640"/>
            <a:ext cx="3383280" cy="1280160"/>
          </a:xfrm>
          <a:prstGeom prst="rect">
            <a:avLst/>
          </a:prstGeom>
          <a:noFill/>
          <a:ln/>
        </p:spPr>
        <p:txBody>
          <a:bodyPr wrap="square" lIns="0" tIns="0" rIns="0" bIns="0" rtlCol="0" anchor="ctr"/>
          <a:lstStyle/>
          <a:p>
            <a:pPr algn="ctr" indent="0" marL="0">
              <a:buNone/>
            </a:pPr>
            <a:r>
              <a:rPr lang="en-US" sz="7200" b="1" dirty="0">
                <a:solidFill>
                  <a:srgbClr val="028090"/>
                </a:solidFill>
                <a:latin typeface="Cambria" pitchFamily="34" charset="0"/>
                <a:ea typeface="Cambria" pitchFamily="34" charset="-122"/>
                <a:cs typeface="Cambria" pitchFamily="34" charset="-120"/>
              </a:rPr>
              <a:t>4</a:t>
            </a:r>
            <a:endParaRPr lang="en-US" sz="7200" dirty="0"/>
          </a:p>
        </p:txBody>
      </p:sp>
      <p:sp>
        <p:nvSpPr>
          <p:cNvPr id="9" name="Text 6"/>
          <p:cNvSpPr/>
          <p:nvPr/>
        </p:nvSpPr>
        <p:spPr>
          <a:xfrm>
            <a:off x="640080" y="4114800"/>
            <a:ext cx="3383280" cy="457200"/>
          </a:xfrm>
          <a:prstGeom prst="rect">
            <a:avLst/>
          </a:prstGeom>
          <a:noFill/>
          <a:ln/>
        </p:spPr>
        <p:txBody>
          <a:bodyPr wrap="square" lIns="0" tIns="0" rIns="0" bIns="0" rtlCol="0" anchor="ctr"/>
          <a:lstStyle/>
          <a:p>
            <a:pPr algn="ctr" indent="0" marL="0">
              <a:buNone/>
            </a:pPr>
            <a:r>
              <a:rPr lang="en-US" sz="2000" b="1" dirty="0">
                <a:solidFill>
                  <a:srgbClr val="0B3C49"/>
                </a:solidFill>
                <a:latin typeface="Cambria" pitchFamily="34" charset="0"/>
                <a:ea typeface="Cambria" pitchFamily="34" charset="-122"/>
                <a:cs typeface="Cambria" pitchFamily="34" charset="-120"/>
              </a:rPr>
              <a:t>tabs</a:t>
            </a:r>
            <a:endParaRPr lang="en-US" sz="2000" dirty="0"/>
          </a:p>
        </p:txBody>
      </p:sp>
      <p:sp>
        <p:nvSpPr>
          <p:cNvPr id="10" name="Text 7"/>
          <p:cNvSpPr/>
          <p:nvPr/>
        </p:nvSpPr>
        <p:spPr>
          <a:xfrm>
            <a:off x="914400" y="4617720"/>
            <a:ext cx="2834640" cy="731520"/>
          </a:xfrm>
          <a:prstGeom prst="rect">
            <a:avLst/>
          </a:prstGeom>
          <a:noFill/>
          <a:ln/>
        </p:spPr>
        <p:txBody>
          <a:bodyPr wrap="square" lIns="0" tIns="0" rIns="0" bIns="0" rtlCol="0" anchor="t"/>
          <a:lstStyle/>
          <a:p>
            <a:pPr algn="ctr" indent="0" marL="0">
              <a:buNone/>
            </a:pPr>
            <a:r>
              <a:rPr lang="en-US" sz="1400" dirty="0">
                <a:solidFill>
                  <a:srgbClr val="5B6B72"/>
                </a:solidFill>
                <a:latin typeface="Calibri" pitchFamily="34" charset="0"/>
                <a:ea typeface="Calibri" pitchFamily="34" charset="-122"/>
                <a:cs typeface="Calibri" pitchFamily="34" charset="-120"/>
              </a:rPr>
              <a:t>Today, History, Report, Settings</a:t>
            </a:r>
            <a:endParaRPr lang="en-US" sz="1400" dirty="0"/>
          </a:p>
        </p:txBody>
      </p:sp>
      <p:sp>
        <p:nvSpPr>
          <p:cNvPr id="11" name="Shape 8"/>
          <p:cNvSpPr/>
          <p:nvPr/>
        </p:nvSpPr>
        <p:spPr>
          <a:xfrm>
            <a:off x="4389120" y="2651760"/>
            <a:ext cx="3383280" cy="2926080"/>
          </a:xfrm>
          <a:prstGeom prst="roundRect">
            <a:avLst>
              <a:gd name="adj" fmla="val 4688"/>
            </a:avLst>
          </a:prstGeom>
          <a:solidFill>
            <a:srgbClr val="EAF6F6"/>
          </a:solidFill>
          <a:ln w="12700">
            <a:solidFill>
              <a:srgbClr val="EAF6F6"/>
            </a:solidFill>
            <a:prstDash val="solid"/>
          </a:ln>
        </p:spPr>
      </p:sp>
      <p:sp>
        <p:nvSpPr>
          <p:cNvPr id="12" name="Text 9"/>
          <p:cNvSpPr/>
          <p:nvPr/>
        </p:nvSpPr>
        <p:spPr>
          <a:xfrm>
            <a:off x="4389120" y="2834640"/>
            <a:ext cx="3383280" cy="1280160"/>
          </a:xfrm>
          <a:prstGeom prst="rect">
            <a:avLst/>
          </a:prstGeom>
          <a:noFill/>
          <a:ln/>
        </p:spPr>
        <p:txBody>
          <a:bodyPr wrap="square" lIns="0" tIns="0" rIns="0" bIns="0" rtlCol="0" anchor="ctr"/>
          <a:lstStyle/>
          <a:p>
            <a:pPr algn="ctr" indent="0" marL="0">
              <a:buNone/>
            </a:pPr>
            <a:r>
              <a:rPr lang="en-US" sz="7200" b="1" dirty="0">
                <a:solidFill>
                  <a:srgbClr val="F96167"/>
                </a:solidFill>
                <a:latin typeface="Cambria" pitchFamily="34" charset="0"/>
                <a:ea typeface="Cambria" pitchFamily="34" charset="-122"/>
                <a:cs typeface="Cambria" pitchFamily="34" charset="-120"/>
              </a:rPr>
              <a:t>14</a:t>
            </a:r>
            <a:endParaRPr lang="en-US" sz="7200" dirty="0"/>
          </a:p>
        </p:txBody>
      </p:sp>
      <p:sp>
        <p:nvSpPr>
          <p:cNvPr id="13" name="Text 10"/>
          <p:cNvSpPr/>
          <p:nvPr/>
        </p:nvSpPr>
        <p:spPr>
          <a:xfrm>
            <a:off x="4389120" y="4114800"/>
            <a:ext cx="3383280" cy="457200"/>
          </a:xfrm>
          <a:prstGeom prst="rect">
            <a:avLst/>
          </a:prstGeom>
          <a:noFill/>
          <a:ln/>
        </p:spPr>
        <p:txBody>
          <a:bodyPr wrap="square" lIns="0" tIns="0" rIns="0" bIns="0" rtlCol="0" anchor="ctr"/>
          <a:lstStyle/>
          <a:p>
            <a:pPr algn="ctr" indent="0" marL="0">
              <a:buNone/>
            </a:pPr>
            <a:r>
              <a:rPr lang="en-US" sz="2000" b="1" dirty="0">
                <a:solidFill>
                  <a:srgbClr val="0B3C49"/>
                </a:solidFill>
                <a:latin typeface="Cambria" pitchFamily="34" charset="0"/>
                <a:ea typeface="Cambria" pitchFamily="34" charset="-122"/>
                <a:cs typeface="Cambria" pitchFamily="34" charset="-120"/>
              </a:rPr>
              <a:t>architecture rules</a:t>
            </a:r>
            <a:endParaRPr lang="en-US" sz="2000" dirty="0"/>
          </a:p>
        </p:txBody>
      </p:sp>
      <p:sp>
        <p:nvSpPr>
          <p:cNvPr id="14" name="Text 11"/>
          <p:cNvSpPr/>
          <p:nvPr/>
        </p:nvSpPr>
        <p:spPr>
          <a:xfrm>
            <a:off x="4663440" y="4617720"/>
            <a:ext cx="2834640" cy="731520"/>
          </a:xfrm>
          <a:prstGeom prst="rect">
            <a:avLst/>
          </a:prstGeom>
          <a:noFill/>
          <a:ln/>
        </p:spPr>
        <p:txBody>
          <a:bodyPr wrap="square" lIns="0" tIns="0" rIns="0" bIns="0" rtlCol="0" anchor="t"/>
          <a:lstStyle/>
          <a:p>
            <a:pPr algn="ctr" indent="0" marL="0">
              <a:buNone/>
            </a:pPr>
            <a:r>
              <a:rPr lang="en-US" sz="1400" dirty="0">
                <a:solidFill>
                  <a:srgbClr val="5B6B72"/>
                </a:solidFill>
                <a:latin typeface="Calibri" pitchFamily="34" charset="0"/>
                <a:ea typeface="Calibri" pitchFamily="34" charset="-122"/>
                <a:cs typeface="Calibri" pitchFamily="34" charset="-120"/>
              </a:rPr>
              <a:t>AD-1 … AD-14, the contract for builders</a:t>
            </a:r>
            <a:endParaRPr lang="en-US" sz="1400" dirty="0"/>
          </a:p>
        </p:txBody>
      </p:sp>
      <p:sp>
        <p:nvSpPr>
          <p:cNvPr id="15" name="Shape 12"/>
          <p:cNvSpPr/>
          <p:nvPr/>
        </p:nvSpPr>
        <p:spPr>
          <a:xfrm>
            <a:off x="8138160" y="2651760"/>
            <a:ext cx="3383280" cy="2926080"/>
          </a:xfrm>
          <a:prstGeom prst="roundRect">
            <a:avLst>
              <a:gd name="adj" fmla="val 4688"/>
            </a:avLst>
          </a:prstGeom>
          <a:solidFill>
            <a:srgbClr val="EAF6F6"/>
          </a:solidFill>
          <a:ln w="12700">
            <a:solidFill>
              <a:srgbClr val="EAF6F6"/>
            </a:solidFill>
            <a:prstDash val="solid"/>
          </a:ln>
        </p:spPr>
      </p:sp>
      <p:sp>
        <p:nvSpPr>
          <p:cNvPr id="16" name="Text 13"/>
          <p:cNvSpPr/>
          <p:nvPr/>
        </p:nvSpPr>
        <p:spPr>
          <a:xfrm>
            <a:off x="8138160" y="2834640"/>
            <a:ext cx="3383280" cy="1280160"/>
          </a:xfrm>
          <a:prstGeom prst="rect">
            <a:avLst/>
          </a:prstGeom>
          <a:noFill/>
          <a:ln/>
        </p:spPr>
        <p:txBody>
          <a:bodyPr wrap="square" lIns="0" tIns="0" rIns="0" bIns="0" rtlCol="0" anchor="ctr"/>
          <a:lstStyle/>
          <a:p>
            <a:pPr algn="ctr" indent="0" marL="0">
              <a:buNone/>
            </a:pPr>
            <a:r>
              <a:rPr lang="en-US" sz="7200" b="1" dirty="0">
                <a:solidFill>
                  <a:srgbClr val="028090"/>
                </a:solidFill>
                <a:latin typeface="Cambria" pitchFamily="34" charset="0"/>
                <a:ea typeface="Cambria" pitchFamily="34" charset="-122"/>
                <a:cs typeface="Cambria" pitchFamily="34" charset="-120"/>
              </a:rPr>
              <a:t>2</a:t>
            </a:r>
            <a:endParaRPr lang="en-US" sz="7200" dirty="0"/>
          </a:p>
        </p:txBody>
      </p:sp>
      <p:sp>
        <p:nvSpPr>
          <p:cNvPr id="17" name="Text 14"/>
          <p:cNvSpPr/>
          <p:nvPr/>
        </p:nvSpPr>
        <p:spPr>
          <a:xfrm>
            <a:off x="8138160" y="4114800"/>
            <a:ext cx="3383280" cy="457200"/>
          </a:xfrm>
          <a:prstGeom prst="rect">
            <a:avLst/>
          </a:prstGeom>
          <a:noFill/>
          <a:ln/>
        </p:spPr>
        <p:txBody>
          <a:bodyPr wrap="square" lIns="0" tIns="0" rIns="0" bIns="0" rtlCol="0" anchor="ctr"/>
          <a:lstStyle/>
          <a:p>
            <a:pPr algn="ctr" indent="0" marL="0">
              <a:buNone/>
            </a:pPr>
            <a:r>
              <a:rPr lang="en-US" sz="2000" b="1" dirty="0">
                <a:solidFill>
                  <a:srgbClr val="0B3C49"/>
                </a:solidFill>
                <a:latin typeface="Cambria" pitchFamily="34" charset="0"/>
                <a:ea typeface="Cambria" pitchFamily="34" charset="-122"/>
                <a:cs typeface="Cambria" pitchFamily="34" charset="-120"/>
              </a:rPr>
              <a:t>environments</a:t>
            </a:r>
            <a:endParaRPr lang="en-US" sz="2000" dirty="0"/>
          </a:p>
        </p:txBody>
      </p:sp>
      <p:sp>
        <p:nvSpPr>
          <p:cNvPr id="18" name="Text 15"/>
          <p:cNvSpPr/>
          <p:nvPr/>
        </p:nvSpPr>
        <p:spPr>
          <a:xfrm>
            <a:off x="8412480" y="4617720"/>
            <a:ext cx="2834640" cy="731520"/>
          </a:xfrm>
          <a:prstGeom prst="rect">
            <a:avLst/>
          </a:prstGeom>
          <a:noFill/>
          <a:ln/>
        </p:spPr>
        <p:txBody>
          <a:bodyPr wrap="square" lIns="0" tIns="0" rIns="0" bIns="0" rtlCol="0" anchor="t"/>
          <a:lstStyle/>
          <a:p>
            <a:pPr algn="ctr" indent="0" marL="0">
              <a:buNone/>
            </a:pPr>
            <a:r>
              <a:rPr lang="en-US" sz="1400" dirty="0">
                <a:solidFill>
                  <a:srgbClr val="5B6B72"/>
                </a:solidFill>
                <a:latin typeface="Calibri" pitchFamily="34" charset="0"/>
                <a:ea typeface="Calibri" pitchFamily="34" charset="-122"/>
                <a:cs typeface="Calibri" pitchFamily="34" charset="-120"/>
              </a:rPr>
              <a:t>local on the emulator, prod on Firebase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08792" cy="82296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2. The big picture (C4 context and containers)</a:t>
            </a:r>
            <a:endParaRPr lang="en-US" sz="3200" dirty="0"/>
          </a:p>
        </p:txBody>
      </p:sp>
      <p:sp>
        <p:nvSpPr>
          <p:cNvPr id="3" name="Text 1"/>
          <p:cNvSpPr/>
          <p:nvPr/>
        </p:nvSpPr>
        <p:spPr>
          <a:xfrm>
            <a:off x="640080" y="6446520"/>
            <a:ext cx="6400800" cy="27432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Weight4All · Solution Design</a:t>
            </a:r>
            <a:endParaRPr lang="en-US" sz="1000" dirty="0"/>
          </a:p>
        </p:txBody>
      </p:sp>
      <p:sp>
        <p:nvSpPr>
          <p:cNvPr id="4" name="Text 2"/>
          <p:cNvSpPr/>
          <p:nvPr/>
        </p:nvSpPr>
        <p:spPr>
          <a:xfrm>
            <a:off x="10634472" y="6446520"/>
            <a:ext cx="914400" cy="274320"/>
          </a:xfrm>
          <a:prstGeom prst="rect">
            <a:avLst/>
          </a:prstGeom>
          <a:noFill/>
          <a:ln/>
        </p:spPr>
        <p:txBody>
          <a:bodyPr wrap="square" lIns="0" tIns="0" rIns="0" bIns="0" rtlCol="0" anchor="ctr"/>
          <a:lstStyle/>
          <a:p>
            <a:pPr algn="r" indent="0" marL="0">
              <a:buNone/>
            </a:pPr>
            <a:r>
              <a:rPr lang="en-US" sz="1000" dirty="0">
                <a:solidFill>
                  <a:srgbClr val="5B6B72"/>
                </a:solidFill>
                <a:latin typeface="Calibri" pitchFamily="34" charset="0"/>
                <a:ea typeface="Calibri" pitchFamily="34" charset="-122"/>
                <a:cs typeface="Calibri" pitchFamily="34" charset="-120"/>
              </a:rPr>
              <a:t>3</a:t>
            </a:r>
            <a:endParaRPr lang="en-US" sz="1000" dirty="0"/>
          </a:p>
        </p:txBody>
      </p:sp>
      <p:sp>
        <p:nvSpPr>
          <p:cNvPr id="6" name="Shape 3"/>
          <p:cNvSpPr/>
          <p:nvPr/>
        </p:nvSpPr>
        <p:spPr>
          <a:xfrm>
            <a:off x="640080" y="2926080"/>
            <a:ext cx="2194560" cy="914400"/>
          </a:xfrm>
          <a:prstGeom prst="roundRect">
            <a:avLst>
              <a:gd name="adj" fmla="val 10000"/>
            </a:avLst>
          </a:prstGeom>
          <a:solidFill>
            <a:srgbClr val="0B3C49"/>
          </a:solidFill>
          <a:ln w="12700">
            <a:solidFill>
              <a:srgbClr val="0B3C49"/>
            </a:solidFill>
            <a:prstDash val="solid"/>
          </a:ln>
        </p:spPr>
      </p:sp>
      <p:sp>
        <p:nvSpPr>
          <p:cNvPr id="7" name="Text 4"/>
          <p:cNvSpPr/>
          <p:nvPr/>
        </p:nvSpPr>
        <p:spPr>
          <a:xfrm>
            <a:off x="694944" y="2926080"/>
            <a:ext cx="2084832"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Bob</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(only user)</a:t>
            </a:r>
            <a:endParaRPr lang="en-US" sz="1500" dirty="0"/>
          </a:p>
        </p:txBody>
      </p:sp>
      <p:sp>
        <p:nvSpPr>
          <p:cNvPr id="8" name="Shape 5"/>
          <p:cNvSpPr/>
          <p:nvPr/>
        </p:nvSpPr>
        <p:spPr>
          <a:xfrm>
            <a:off x="3657600" y="2926080"/>
            <a:ext cx="2743200" cy="914400"/>
          </a:xfrm>
          <a:prstGeom prst="roundRect">
            <a:avLst>
              <a:gd name="adj" fmla="val 10000"/>
            </a:avLst>
          </a:prstGeom>
          <a:solidFill>
            <a:srgbClr val="028090"/>
          </a:solidFill>
          <a:ln w="12700">
            <a:solidFill>
              <a:srgbClr val="028090"/>
            </a:solidFill>
            <a:prstDash val="solid"/>
          </a:ln>
        </p:spPr>
      </p:sp>
      <p:sp>
        <p:nvSpPr>
          <p:cNvPr id="9" name="Text 6"/>
          <p:cNvSpPr/>
          <p:nvPr/>
        </p:nvSpPr>
        <p:spPr>
          <a:xfrm>
            <a:off x="3712464" y="2926080"/>
            <a:ext cx="2633472"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Angular app</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in the browser</a:t>
            </a:r>
            <a:endParaRPr lang="en-US" sz="1500" dirty="0"/>
          </a:p>
        </p:txBody>
      </p:sp>
      <p:sp>
        <p:nvSpPr>
          <p:cNvPr id="10" name="Shape 7"/>
          <p:cNvSpPr/>
          <p:nvPr/>
        </p:nvSpPr>
        <p:spPr>
          <a:xfrm>
            <a:off x="8229600" y="1554480"/>
            <a:ext cx="3291840" cy="868680"/>
          </a:xfrm>
          <a:prstGeom prst="roundRect">
            <a:avLst>
              <a:gd name="adj" fmla="val 10526"/>
            </a:avLst>
          </a:prstGeom>
          <a:solidFill>
            <a:srgbClr val="EAF6F6"/>
          </a:solidFill>
          <a:ln w="12700">
            <a:solidFill>
              <a:srgbClr val="D5E5E8"/>
            </a:solidFill>
            <a:prstDash val="solid"/>
          </a:ln>
        </p:spPr>
      </p:sp>
      <p:sp>
        <p:nvSpPr>
          <p:cNvPr id="11" name="Text 8"/>
          <p:cNvSpPr/>
          <p:nvPr/>
        </p:nvSpPr>
        <p:spPr>
          <a:xfrm>
            <a:off x="8284464" y="1554480"/>
            <a:ext cx="3182112" cy="868680"/>
          </a:xfrm>
          <a:prstGeom prst="rect">
            <a:avLst/>
          </a:prstGeom>
          <a:noFill/>
          <a:ln/>
        </p:spPr>
        <p:txBody>
          <a:bodyPr wrap="square" lIns="0" tIns="0" rIns="0" bIns="0" rtlCol="0" anchor="ctr"/>
          <a:lstStyle/>
          <a:p>
            <a:pPr algn="ctr" indent="0" marL="0">
              <a:buNone/>
            </a:pPr>
            <a:r>
              <a:rPr lang="en-US" sz="1400" b="1" dirty="0">
                <a:solidFill>
                  <a:srgbClr val="0B3C49"/>
                </a:solidFill>
                <a:latin typeface="Calibri" pitchFamily="34" charset="0"/>
                <a:ea typeface="Calibri" pitchFamily="34" charset="-122"/>
                <a:cs typeface="Calibri" pitchFamily="34" charset="-120"/>
              </a:rPr>
              <a:t>Firebase Hosting</a:t>
            </a:r>
            <a:endParaRPr lang="en-US" sz="1400" dirty="0"/>
          </a:p>
          <a:p>
            <a:pPr algn="ctr" indent="0" marL="0">
              <a:buNone/>
            </a:pPr>
            <a:r>
              <a:rPr lang="en-US" sz="1400" b="1" dirty="0">
                <a:solidFill>
                  <a:srgbClr val="0B3C49"/>
                </a:solidFill>
                <a:latin typeface="Calibri" pitchFamily="34" charset="0"/>
                <a:ea typeface="Calibri" pitchFamily="34" charset="-122"/>
                <a:cs typeface="Calibri" pitchFamily="34" charset="-120"/>
              </a:rPr>
              <a:t>(serves the app, HTTPS)</a:t>
            </a:r>
            <a:endParaRPr lang="en-US" sz="1400" dirty="0"/>
          </a:p>
        </p:txBody>
      </p:sp>
      <p:sp>
        <p:nvSpPr>
          <p:cNvPr id="12" name="Shape 9"/>
          <p:cNvSpPr/>
          <p:nvPr/>
        </p:nvSpPr>
        <p:spPr>
          <a:xfrm>
            <a:off x="8229600" y="2944368"/>
            <a:ext cx="3291840" cy="868680"/>
          </a:xfrm>
          <a:prstGeom prst="roundRect">
            <a:avLst>
              <a:gd name="adj" fmla="val 10526"/>
            </a:avLst>
          </a:prstGeom>
          <a:solidFill>
            <a:srgbClr val="EAF6F6"/>
          </a:solidFill>
          <a:ln w="12700">
            <a:solidFill>
              <a:srgbClr val="D5E5E8"/>
            </a:solidFill>
            <a:prstDash val="solid"/>
          </a:ln>
        </p:spPr>
      </p:sp>
      <p:sp>
        <p:nvSpPr>
          <p:cNvPr id="13" name="Text 10"/>
          <p:cNvSpPr/>
          <p:nvPr/>
        </p:nvSpPr>
        <p:spPr>
          <a:xfrm>
            <a:off x="8284464" y="2944368"/>
            <a:ext cx="3182112" cy="868680"/>
          </a:xfrm>
          <a:prstGeom prst="rect">
            <a:avLst/>
          </a:prstGeom>
          <a:noFill/>
          <a:ln/>
        </p:spPr>
        <p:txBody>
          <a:bodyPr wrap="square" lIns="0" tIns="0" rIns="0" bIns="0" rtlCol="0" anchor="ctr"/>
          <a:lstStyle/>
          <a:p>
            <a:pPr algn="ctr" indent="0" marL="0">
              <a:buNone/>
            </a:pPr>
            <a:r>
              <a:rPr lang="en-US" sz="1400" b="1" dirty="0">
                <a:solidFill>
                  <a:srgbClr val="0B3C49"/>
                </a:solidFill>
                <a:latin typeface="Calibri" pitchFamily="34" charset="0"/>
                <a:ea typeface="Calibri" pitchFamily="34" charset="-122"/>
                <a:cs typeface="Calibri" pitchFamily="34" charset="-120"/>
              </a:rPr>
              <a:t>Firebase Authentication</a:t>
            </a:r>
            <a:endParaRPr lang="en-US" sz="1400" dirty="0"/>
          </a:p>
          <a:p>
            <a:pPr algn="ctr" indent="0" marL="0">
              <a:buNone/>
            </a:pPr>
            <a:r>
              <a:rPr lang="en-US" sz="1400" b="1" dirty="0">
                <a:solidFill>
                  <a:srgbClr val="0B3C49"/>
                </a:solidFill>
                <a:latin typeface="Calibri" pitchFamily="34" charset="0"/>
                <a:ea typeface="Calibri" pitchFamily="34" charset="-122"/>
                <a:cs typeface="Calibri" pitchFamily="34" charset="-120"/>
              </a:rPr>
              <a:t>(login and session)</a:t>
            </a:r>
            <a:endParaRPr lang="en-US" sz="1400" dirty="0"/>
          </a:p>
        </p:txBody>
      </p:sp>
      <p:sp>
        <p:nvSpPr>
          <p:cNvPr id="14" name="Shape 11"/>
          <p:cNvSpPr/>
          <p:nvPr/>
        </p:nvSpPr>
        <p:spPr>
          <a:xfrm>
            <a:off x="8229600" y="4334256"/>
            <a:ext cx="3291840" cy="868680"/>
          </a:xfrm>
          <a:prstGeom prst="roundRect">
            <a:avLst>
              <a:gd name="adj" fmla="val 10526"/>
            </a:avLst>
          </a:prstGeom>
          <a:solidFill>
            <a:srgbClr val="EAF6F6"/>
          </a:solidFill>
          <a:ln w="12700">
            <a:solidFill>
              <a:srgbClr val="D5E5E8"/>
            </a:solidFill>
            <a:prstDash val="solid"/>
          </a:ln>
        </p:spPr>
      </p:sp>
      <p:sp>
        <p:nvSpPr>
          <p:cNvPr id="15" name="Text 12"/>
          <p:cNvSpPr/>
          <p:nvPr/>
        </p:nvSpPr>
        <p:spPr>
          <a:xfrm>
            <a:off x="8284464" y="4334256"/>
            <a:ext cx="3182112" cy="868680"/>
          </a:xfrm>
          <a:prstGeom prst="rect">
            <a:avLst/>
          </a:prstGeom>
          <a:noFill/>
          <a:ln/>
        </p:spPr>
        <p:txBody>
          <a:bodyPr wrap="square" lIns="0" tIns="0" rIns="0" bIns="0" rtlCol="0" anchor="ctr"/>
          <a:lstStyle/>
          <a:p>
            <a:pPr algn="ctr" indent="0" marL="0">
              <a:buNone/>
            </a:pPr>
            <a:r>
              <a:rPr lang="en-US" sz="1400" b="1" dirty="0">
                <a:solidFill>
                  <a:srgbClr val="0B3C49"/>
                </a:solidFill>
                <a:latin typeface="Calibri" pitchFamily="34" charset="0"/>
                <a:ea typeface="Calibri" pitchFamily="34" charset="-122"/>
                <a:cs typeface="Calibri" pitchFamily="34" charset="-120"/>
              </a:rPr>
              <a:t>Firestore + security rules</a:t>
            </a:r>
            <a:endParaRPr lang="en-US" sz="1400" dirty="0"/>
          </a:p>
          <a:p>
            <a:pPr algn="ctr" indent="0" marL="0">
              <a:buNone/>
            </a:pPr>
            <a:r>
              <a:rPr lang="en-US" sz="1400" b="1" dirty="0">
                <a:solidFill>
                  <a:srgbClr val="0B3C49"/>
                </a:solidFill>
                <a:latin typeface="Calibri" pitchFamily="34" charset="0"/>
                <a:ea typeface="Calibri" pitchFamily="34" charset="-122"/>
                <a:cs typeface="Calibri" pitchFamily="34" charset="-120"/>
              </a:rPr>
              <a:t>(the user's days)</a:t>
            </a:r>
            <a:endParaRPr lang="en-US" sz="1400" dirty="0"/>
          </a:p>
        </p:txBody>
      </p:sp>
      <p:sp>
        <p:nvSpPr>
          <p:cNvPr id="16" name="Shape 13"/>
          <p:cNvSpPr/>
          <p:nvPr/>
        </p:nvSpPr>
        <p:spPr>
          <a:xfrm>
            <a:off x="2834640" y="3383280"/>
            <a:ext cx="822960" cy="0"/>
          </a:xfrm>
          <a:prstGeom prst="line">
            <a:avLst/>
          </a:prstGeom>
          <a:noFill/>
          <a:ln w="19050">
            <a:solidFill>
              <a:srgbClr val="5B6B72"/>
            </a:solidFill>
            <a:prstDash val="solid"/>
            <a:tailEnd type="triangle"/>
          </a:ln>
        </p:spPr>
      </p:sp>
      <p:sp>
        <p:nvSpPr>
          <p:cNvPr id="17" name="Shape 14"/>
          <p:cNvSpPr/>
          <p:nvPr/>
        </p:nvSpPr>
        <p:spPr>
          <a:xfrm flipV="1">
            <a:off x="6400800" y="2011680"/>
            <a:ext cx="1828800" cy="1097280"/>
          </a:xfrm>
          <a:prstGeom prst="line">
            <a:avLst/>
          </a:prstGeom>
          <a:noFill/>
          <a:ln w="19050">
            <a:solidFill>
              <a:srgbClr val="5B6B72"/>
            </a:solidFill>
            <a:prstDash val="solid"/>
            <a:tailEnd type="triangle"/>
          </a:ln>
        </p:spPr>
      </p:sp>
      <p:sp>
        <p:nvSpPr>
          <p:cNvPr id="18" name="Shape 15"/>
          <p:cNvSpPr/>
          <p:nvPr/>
        </p:nvSpPr>
        <p:spPr>
          <a:xfrm>
            <a:off x="6400800" y="3383280"/>
            <a:ext cx="1828800" cy="0"/>
          </a:xfrm>
          <a:prstGeom prst="line">
            <a:avLst/>
          </a:prstGeom>
          <a:noFill/>
          <a:ln w="19050">
            <a:solidFill>
              <a:srgbClr val="5B6B72"/>
            </a:solidFill>
            <a:prstDash val="solid"/>
            <a:tailEnd type="triangle"/>
          </a:ln>
        </p:spPr>
      </p:sp>
      <p:sp>
        <p:nvSpPr>
          <p:cNvPr id="19" name="Shape 16"/>
          <p:cNvSpPr/>
          <p:nvPr/>
        </p:nvSpPr>
        <p:spPr>
          <a:xfrm>
            <a:off x="6400800" y="3657600"/>
            <a:ext cx="1828800" cy="1097280"/>
          </a:xfrm>
          <a:prstGeom prst="line">
            <a:avLst/>
          </a:prstGeom>
          <a:noFill/>
          <a:ln w="19050">
            <a:solidFill>
              <a:srgbClr val="5B6B72"/>
            </a:solidFill>
            <a:prstDash val="solid"/>
            <a:tailEnd type="triangle"/>
          </a:ln>
        </p:spPr>
      </p:sp>
      <p:sp>
        <p:nvSpPr>
          <p:cNvPr id="20" name="Text 17"/>
          <p:cNvSpPr/>
          <p:nvPr/>
        </p:nvSpPr>
        <p:spPr>
          <a:xfrm>
            <a:off x="640080" y="3977640"/>
            <a:ext cx="2926080" cy="365760"/>
          </a:xfrm>
          <a:prstGeom prst="rect">
            <a:avLst/>
          </a:prstGeom>
          <a:noFill/>
          <a:ln/>
        </p:spPr>
        <p:txBody>
          <a:bodyPr wrap="square" lIns="0" tIns="0" rIns="0" bIns="0" rtlCol="0" anchor="ctr"/>
          <a:lstStyle/>
          <a:p>
            <a:pPr indent="0" marL="0">
              <a:buNone/>
            </a:pPr>
            <a:r>
              <a:rPr lang="en-US" sz="1200" i="1" dirty="0">
                <a:solidFill>
                  <a:srgbClr val="5B6B72"/>
                </a:solidFill>
                <a:latin typeface="Calibri" pitchFamily="34" charset="0"/>
                <a:ea typeface="Calibri" pitchFamily="34" charset="-122"/>
                <a:cs typeface="Calibri" pitchFamily="34" charset="-120"/>
              </a:rPr>
              <a:t>Used from phone, tablet and computer</a:t>
            </a:r>
            <a:endParaRPr lang="en-US" sz="1200" dirty="0"/>
          </a:p>
        </p:txBody>
      </p:sp>
      <p:sp>
        <p:nvSpPr>
          <p:cNvPr id="21" name="Text 18"/>
          <p:cNvSpPr/>
          <p:nvPr/>
        </p:nvSpPr>
        <p:spPr>
          <a:xfrm>
            <a:off x="640080" y="5532120"/>
            <a:ext cx="10908792" cy="731520"/>
          </a:xfrm>
          <a:prstGeom prst="rect">
            <a:avLst/>
          </a:prstGeom>
          <a:noFill/>
          <a:ln/>
        </p:spPr>
        <p:txBody>
          <a:bodyPr wrap="square" lIns="0" tIns="0" rIns="0" bIns="0" rtlCol="0" anchor="ctr"/>
          <a:lstStyle/>
          <a:p>
            <a:pPr indent="0" marL="0">
              <a:buNone/>
            </a:pPr>
            <a:r>
              <a:rPr lang="en-US" sz="1600" dirty="0">
                <a:solidFill>
                  <a:srgbClr val="1F2D33"/>
                </a:solidFill>
                <a:latin typeface="Calibri" pitchFamily="34" charset="0"/>
                <a:ea typeface="Calibri" pitchFamily="34" charset="-122"/>
                <a:cs typeface="Calibri" pitchFamily="34" charset="-120"/>
              </a:rPr>
              <a:t>There is no server of our own. The browser talks directly to Firebase, and the security rules, not the app code, decide who can read or write what.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08792" cy="82296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3. Inside the app (C4 components)</a:t>
            </a:r>
            <a:endParaRPr lang="en-US" sz="3200" dirty="0"/>
          </a:p>
        </p:txBody>
      </p:sp>
      <p:sp>
        <p:nvSpPr>
          <p:cNvPr id="3" name="Text 1"/>
          <p:cNvSpPr/>
          <p:nvPr/>
        </p:nvSpPr>
        <p:spPr>
          <a:xfrm>
            <a:off x="640080" y="6446520"/>
            <a:ext cx="6400800" cy="27432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Weight4All · Solution Design</a:t>
            </a:r>
            <a:endParaRPr lang="en-US" sz="1000" dirty="0"/>
          </a:p>
        </p:txBody>
      </p:sp>
      <p:sp>
        <p:nvSpPr>
          <p:cNvPr id="4" name="Text 2"/>
          <p:cNvSpPr/>
          <p:nvPr/>
        </p:nvSpPr>
        <p:spPr>
          <a:xfrm>
            <a:off x="10634472" y="6446520"/>
            <a:ext cx="914400" cy="274320"/>
          </a:xfrm>
          <a:prstGeom prst="rect">
            <a:avLst/>
          </a:prstGeom>
          <a:noFill/>
          <a:ln/>
        </p:spPr>
        <p:txBody>
          <a:bodyPr wrap="square" lIns="0" tIns="0" rIns="0" bIns="0" rtlCol="0" anchor="ctr"/>
          <a:lstStyle/>
          <a:p>
            <a:pPr algn="r" indent="0" marL="0">
              <a:buNone/>
            </a:pPr>
            <a:r>
              <a:rPr lang="en-US" sz="1000" dirty="0">
                <a:solidFill>
                  <a:srgbClr val="5B6B72"/>
                </a:solidFill>
                <a:latin typeface="Calibri" pitchFamily="34" charset="0"/>
                <a:ea typeface="Calibri" pitchFamily="34" charset="-122"/>
                <a:cs typeface="Calibri" pitchFamily="34" charset="-120"/>
              </a:rPr>
              <a:t>4</a:t>
            </a:r>
            <a:endParaRPr lang="en-US" sz="1000" dirty="0"/>
          </a:p>
        </p:txBody>
      </p:sp>
      <p:sp>
        <p:nvSpPr>
          <p:cNvPr id="6" name="Shape 3"/>
          <p:cNvSpPr/>
          <p:nvPr/>
        </p:nvSpPr>
        <p:spPr>
          <a:xfrm>
            <a:off x="640080" y="1325880"/>
            <a:ext cx="10908792" cy="502920"/>
          </a:xfrm>
          <a:prstGeom prst="roundRect">
            <a:avLst>
              <a:gd name="adj" fmla="val 18182"/>
            </a:avLst>
          </a:prstGeom>
          <a:solidFill>
            <a:srgbClr val="0B3C49"/>
          </a:solidFill>
          <a:ln w="12700">
            <a:solidFill>
              <a:srgbClr val="0B3C49"/>
            </a:solidFill>
            <a:prstDash val="solid"/>
          </a:ln>
        </p:spPr>
      </p:sp>
      <p:sp>
        <p:nvSpPr>
          <p:cNvPr id="7" name="Text 4"/>
          <p:cNvSpPr/>
          <p:nvPr/>
        </p:nvSpPr>
        <p:spPr>
          <a:xfrm>
            <a:off x="694944" y="1325880"/>
            <a:ext cx="10799064"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shell: navigation, windowClass, today signal, route guard wiring</a:t>
            </a:r>
            <a:endParaRPr lang="en-US" sz="1400" dirty="0"/>
          </a:p>
        </p:txBody>
      </p:sp>
      <p:sp>
        <p:nvSpPr>
          <p:cNvPr id="8" name="Shape 5"/>
          <p:cNvSpPr/>
          <p:nvPr/>
        </p:nvSpPr>
        <p:spPr>
          <a:xfrm>
            <a:off x="640080" y="2194560"/>
            <a:ext cx="2011680" cy="548640"/>
          </a:xfrm>
          <a:prstGeom prst="roundRect">
            <a:avLst>
              <a:gd name="adj" fmla="val 16667"/>
            </a:avLst>
          </a:prstGeom>
          <a:solidFill>
            <a:srgbClr val="028090"/>
          </a:solidFill>
          <a:ln w="12700">
            <a:solidFill>
              <a:srgbClr val="028090"/>
            </a:solidFill>
            <a:prstDash val="solid"/>
          </a:ln>
        </p:spPr>
      </p:sp>
      <p:sp>
        <p:nvSpPr>
          <p:cNvPr id="9" name="Text 6"/>
          <p:cNvSpPr/>
          <p:nvPr/>
        </p:nvSpPr>
        <p:spPr>
          <a:xfrm>
            <a:off x="694944" y="2194560"/>
            <a:ext cx="1901952"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features/auth</a:t>
            </a:r>
            <a:endParaRPr lang="en-US" sz="1300" dirty="0"/>
          </a:p>
        </p:txBody>
      </p:sp>
      <p:sp>
        <p:nvSpPr>
          <p:cNvPr id="10" name="Shape 7"/>
          <p:cNvSpPr/>
          <p:nvPr/>
        </p:nvSpPr>
        <p:spPr>
          <a:xfrm>
            <a:off x="2852928" y="2194560"/>
            <a:ext cx="2011680" cy="548640"/>
          </a:xfrm>
          <a:prstGeom prst="roundRect">
            <a:avLst>
              <a:gd name="adj" fmla="val 16667"/>
            </a:avLst>
          </a:prstGeom>
          <a:solidFill>
            <a:srgbClr val="028090"/>
          </a:solidFill>
          <a:ln w="12700">
            <a:solidFill>
              <a:srgbClr val="028090"/>
            </a:solidFill>
            <a:prstDash val="solid"/>
          </a:ln>
        </p:spPr>
      </p:sp>
      <p:sp>
        <p:nvSpPr>
          <p:cNvPr id="11" name="Text 8"/>
          <p:cNvSpPr/>
          <p:nvPr/>
        </p:nvSpPr>
        <p:spPr>
          <a:xfrm>
            <a:off x="2907792" y="2194560"/>
            <a:ext cx="1901952"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features/today</a:t>
            </a:r>
            <a:endParaRPr lang="en-US" sz="1300" dirty="0"/>
          </a:p>
        </p:txBody>
      </p:sp>
      <p:sp>
        <p:nvSpPr>
          <p:cNvPr id="12" name="Shape 9"/>
          <p:cNvSpPr/>
          <p:nvPr/>
        </p:nvSpPr>
        <p:spPr>
          <a:xfrm>
            <a:off x="5065776" y="2194560"/>
            <a:ext cx="2011680" cy="548640"/>
          </a:xfrm>
          <a:prstGeom prst="roundRect">
            <a:avLst>
              <a:gd name="adj" fmla="val 16667"/>
            </a:avLst>
          </a:prstGeom>
          <a:solidFill>
            <a:srgbClr val="028090"/>
          </a:solidFill>
          <a:ln w="12700">
            <a:solidFill>
              <a:srgbClr val="028090"/>
            </a:solidFill>
            <a:prstDash val="solid"/>
          </a:ln>
        </p:spPr>
      </p:sp>
      <p:sp>
        <p:nvSpPr>
          <p:cNvPr id="13" name="Text 10"/>
          <p:cNvSpPr/>
          <p:nvPr/>
        </p:nvSpPr>
        <p:spPr>
          <a:xfrm>
            <a:off x="5120640" y="2194560"/>
            <a:ext cx="1901952"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features/history</a:t>
            </a:r>
            <a:endParaRPr lang="en-US" sz="1300" dirty="0"/>
          </a:p>
        </p:txBody>
      </p:sp>
      <p:sp>
        <p:nvSpPr>
          <p:cNvPr id="14" name="Shape 11"/>
          <p:cNvSpPr/>
          <p:nvPr/>
        </p:nvSpPr>
        <p:spPr>
          <a:xfrm>
            <a:off x="7278624" y="2194560"/>
            <a:ext cx="2011680" cy="548640"/>
          </a:xfrm>
          <a:prstGeom prst="roundRect">
            <a:avLst>
              <a:gd name="adj" fmla="val 16667"/>
            </a:avLst>
          </a:prstGeom>
          <a:solidFill>
            <a:srgbClr val="028090"/>
          </a:solidFill>
          <a:ln w="12700">
            <a:solidFill>
              <a:srgbClr val="028090"/>
            </a:solidFill>
            <a:prstDash val="solid"/>
          </a:ln>
        </p:spPr>
      </p:sp>
      <p:sp>
        <p:nvSpPr>
          <p:cNvPr id="15" name="Text 12"/>
          <p:cNvSpPr/>
          <p:nvPr/>
        </p:nvSpPr>
        <p:spPr>
          <a:xfrm>
            <a:off x="7333488" y="2194560"/>
            <a:ext cx="1901952"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features/report</a:t>
            </a:r>
            <a:endParaRPr lang="en-US" sz="1300" dirty="0"/>
          </a:p>
        </p:txBody>
      </p:sp>
      <p:sp>
        <p:nvSpPr>
          <p:cNvPr id="16" name="Shape 13"/>
          <p:cNvSpPr/>
          <p:nvPr/>
        </p:nvSpPr>
        <p:spPr>
          <a:xfrm>
            <a:off x="9491472" y="2194560"/>
            <a:ext cx="2011680" cy="548640"/>
          </a:xfrm>
          <a:prstGeom prst="roundRect">
            <a:avLst>
              <a:gd name="adj" fmla="val 16667"/>
            </a:avLst>
          </a:prstGeom>
          <a:solidFill>
            <a:srgbClr val="028090"/>
          </a:solidFill>
          <a:ln w="12700">
            <a:solidFill>
              <a:srgbClr val="028090"/>
            </a:solidFill>
            <a:prstDash val="solid"/>
          </a:ln>
        </p:spPr>
      </p:sp>
      <p:sp>
        <p:nvSpPr>
          <p:cNvPr id="17" name="Text 14"/>
          <p:cNvSpPr/>
          <p:nvPr/>
        </p:nvSpPr>
        <p:spPr>
          <a:xfrm>
            <a:off x="9546336" y="2194560"/>
            <a:ext cx="1901952"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features/settings</a:t>
            </a:r>
            <a:endParaRPr lang="en-US" sz="1300" dirty="0"/>
          </a:p>
        </p:txBody>
      </p:sp>
      <p:sp>
        <p:nvSpPr>
          <p:cNvPr id="18" name="Shape 15"/>
          <p:cNvSpPr/>
          <p:nvPr/>
        </p:nvSpPr>
        <p:spPr>
          <a:xfrm>
            <a:off x="6080760" y="1828800"/>
            <a:ext cx="0" cy="365760"/>
          </a:xfrm>
          <a:prstGeom prst="line">
            <a:avLst/>
          </a:prstGeom>
          <a:noFill/>
          <a:ln w="19050">
            <a:solidFill>
              <a:srgbClr val="5B6B72"/>
            </a:solidFill>
            <a:prstDash val="solid"/>
            <a:tailEnd type="triangle"/>
          </a:ln>
        </p:spPr>
      </p:sp>
      <p:sp>
        <p:nvSpPr>
          <p:cNvPr id="19" name="Shape 16"/>
          <p:cNvSpPr/>
          <p:nvPr/>
        </p:nvSpPr>
        <p:spPr>
          <a:xfrm>
            <a:off x="2651760" y="3154680"/>
            <a:ext cx="3657600" cy="640080"/>
          </a:xfrm>
          <a:prstGeom prst="roundRect">
            <a:avLst>
              <a:gd name="adj" fmla="val 14286"/>
            </a:avLst>
          </a:prstGeom>
          <a:solidFill>
            <a:srgbClr val="5FB3B3"/>
          </a:solidFill>
          <a:ln w="12700">
            <a:solidFill>
              <a:srgbClr val="5FB3B3"/>
            </a:solidFill>
            <a:prstDash val="solid"/>
          </a:ln>
        </p:spPr>
      </p:sp>
      <p:sp>
        <p:nvSpPr>
          <p:cNvPr id="20" name="Text 17"/>
          <p:cNvSpPr/>
          <p:nvPr/>
        </p:nvSpPr>
        <p:spPr>
          <a:xfrm>
            <a:off x="2706624" y="3154680"/>
            <a:ext cx="3547872" cy="640080"/>
          </a:xfrm>
          <a:prstGeom prst="rect">
            <a:avLst/>
          </a:prstGeom>
          <a:noFill/>
          <a:ln/>
        </p:spPr>
        <p:txBody>
          <a:bodyPr wrap="square" lIns="0" tIns="0" rIns="0" bIns="0" rtlCol="0" anchor="ctr"/>
          <a:lstStyle/>
          <a:p>
            <a:pPr algn="ctr" indent="0" marL="0">
              <a:buNone/>
            </a:pPr>
            <a:r>
              <a:rPr lang="en-US" sz="1200" b="1" dirty="0">
                <a:solidFill>
                  <a:srgbClr val="0B3C49"/>
                </a:solidFill>
                <a:latin typeface="Calibri" pitchFamily="34" charset="0"/>
                <a:ea typeface="Calibri" pitchFamily="34" charset="-122"/>
                <a:cs typeface="Calibri" pitchFamily="34" charset="-120"/>
              </a:rPr>
              <a:t>shared: EntryForm + DraftStore</a:t>
            </a:r>
            <a:endParaRPr lang="en-US" sz="1200" dirty="0"/>
          </a:p>
          <a:p>
            <a:pPr algn="ctr" indent="0" marL="0">
              <a:buNone/>
            </a:pPr>
            <a:r>
              <a:rPr lang="en-US" sz="1200" b="1" dirty="0">
                <a:solidFill>
                  <a:srgbClr val="0B3C49"/>
                </a:solidFill>
                <a:latin typeface="Calibri" pitchFamily="34" charset="0"/>
                <a:ea typeface="Calibri" pitchFamily="34" charset="-122"/>
                <a:cs typeface="Calibri" pitchFamily="34" charset="-120"/>
              </a:rPr>
              <a:t>(used by Today and Entry edit)</a:t>
            </a:r>
            <a:endParaRPr lang="en-US" sz="1200" dirty="0"/>
          </a:p>
        </p:txBody>
      </p:sp>
      <p:sp>
        <p:nvSpPr>
          <p:cNvPr id="21" name="Shape 18"/>
          <p:cNvSpPr/>
          <p:nvPr/>
        </p:nvSpPr>
        <p:spPr>
          <a:xfrm>
            <a:off x="6766560" y="3154680"/>
            <a:ext cx="3108960" cy="640080"/>
          </a:xfrm>
          <a:prstGeom prst="roundRect">
            <a:avLst>
              <a:gd name="adj" fmla="val 14286"/>
            </a:avLst>
          </a:prstGeom>
          <a:solidFill>
            <a:srgbClr val="F96167"/>
          </a:solidFill>
          <a:ln w="12700">
            <a:solidFill>
              <a:srgbClr val="F96167"/>
            </a:solidFill>
            <a:prstDash val="solid"/>
          </a:ln>
        </p:spPr>
      </p:sp>
      <p:sp>
        <p:nvSpPr>
          <p:cNvPr id="22" name="Text 19"/>
          <p:cNvSpPr/>
          <p:nvPr/>
        </p:nvSpPr>
        <p:spPr>
          <a:xfrm>
            <a:off x="6821424" y="3154680"/>
            <a:ext cx="2999232"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domain: pure functions</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(dimensions, day, series, stats…)</a:t>
            </a:r>
            <a:endParaRPr lang="en-US" sz="1200" dirty="0"/>
          </a:p>
        </p:txBody>
      </p:sp>
      <p:sp>
        <p:nvSpPr>
          <p:cNvPr id="23" name="Shape 20"/>
          <p:cNvSpPr/>
          <p:nvPr/>
        </p:nvSpPr>
        <p:spPr>
          <a:xfrm>
            <a:off x="4114800" y="2743200"/>
            <a:ext cx="0" cy="411480"/>
          </a:xfrm>
          <a:prstGeom prst="line">
            <a:avLst/>
          </a:prstGeom>
          <a:noFill/>
          <a:ln w="19050">
            <a:solidFill>
              <a:srgbClr val="5B6B72"/>
            </a:solidFill>
            <a:prstDash val="solid"/>
            <a:tailEnd type="triangle"/>
          </a:ln>
        </p:spPr>
      </p:sp>
      <p:sp>
        <p:nvSpPr>
          <p:cNvPr id="24" name="Shape 21"/>
          <p:cNvSpPr/>
          <p:nvPr/>
        </p:nvSpPr>
        <p:spPr>
          <a:xfrm flipH="1">
            <a:off x="5486400" y="2743200"/>
            <a:ext cx="548640" cy="411480"/>
          </a:xfrm>
          <a:prstGeom prst="line">
            <a:avLst/>
          </a:prstGeom>
          <a:noFill/>
          <a:ln w="19050">
            <a:solidFill>
              <a:srgbClr val="5B6B72"/>
            </a:solidFill>
            <a:prstDash val="solid"/>
            <a:tailEnd type="triangle"/>
          </a:ln>
        </p:spPr>
      </p:sp>
      <p:sp>
        <p:nvSpPr>
          <p:cNvPr id="25" name="Shape 22"/>
          <p:cNvSpPr/>
          <p:nvPr/>
        </p:nvSpPr>
        <p:spPr>
          <a:xfrm>
            <a:off x="8321040" y="2743200"/>
            <a:ext cx="0" cy="411480"/>
          </a:xfrm>
          <a:prstGeom prst="line">
            <a:avLst/>
          </a:prstGeom>
          <a:noFill/>
          <a:ln w="19050">
            <a:solidFill>
              <a:srgbClr val="5B6B72"/>
            </a:solidFill>
            <a:prstDash val="dash"/>
            <a:tailEnd type="triangle"/>
          </a:ln>
        </p:spPr>
      </p:sp>
      <p:sp>
        <p:nvSpPr>
          <p:cNvPr id="26" name="Shape 23"/>
          <p:cNvSpPr/>
          <p:nvPr/>
        </p:nvSpPr>
        <p:spPr>
          <a:xfrm>
            <a:off x="640080" y="4343400"/>
            <a:ext cx="3474720" cy="731520"/>
          </a:xfrm>
          <a:prstGeom prst="roundRect">
            <a:avLst>
              <a:gd name="adj" fmla="val 12500"/>
            </a:avLst>
          </a:prstGeom>
          <a:solidFill>
            <a:srgbClr val="0B3C49"/>
          </a:solidFill>
          <a:ln w="12700">
            <a:solidFill>
              <a:srgbClr val="0B3C49"/>
            </a:solidFill>
            <a:prstDash val="solid"/>
          </a:ln>
        </p:spPr>
      </p:sp>
      <p:sp>
        <p:nvSpPr>
          <p:cNvPr id="27" name="Text 24"/>
          <p:cNvSpPr/>
          <p:nvPr/>
        </p:nvSpPr>
        <p:spPr>
          <a:xfrm>
            <a:off x="694944" y="4343400"/>
            <a:ext cx="3364992"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AuthService + SessionScope</a:t>
            </a:r>
            <a:endParaRPr lang="en-US" sz="1300" dirty="0"/>
          </a:p>
        </p:txBody>
      </p:sp>
      <p:sp>
        <p:nvSpPr>
          <p:cNvPr id="28" name="Shape 25"/>
          <p:cNvSpPr/>
          <p:nvPr/>
        </p:nvSpPr>
        <p:spPr>
          <a:xfrm>
            <a:off x="4343400" y="4343400"/>
            <a:ext cx="3474720" cy="731520"/>
          </a:xfrm>
          <a:prstGeom prst="roundRect">
            <a:avLst>
              <a:gd name="adj" fmla="val 12500"/>
            </a:avLst>
          </a:prstGeom>
          <a:solidFill>
            <a:srgbClr val="0B3C49"/>
          </a:solidFill>
          <a:ln w="12700">
            <a:solidFill>
              <a:srgbClr val="0B3C49"/>
            </a:solidFill>
            <a:prstDash val="solid"/>
          </a:ln>
        </p:spPr>
      </p:sp>
      <p:sp>
        <p:nvSpPr>
          <p:cNvPr id="29" name="Text 26"/>
          <p:cNvSpPr/>
          <p:nvPr/>
        </p:nvSpPr>
        <p:spPr>
          <a:xfrm>
            <a:off x="4398264" y="4343400"/>
            <a:ext cx="3364992"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EntryStore</a:t>
            </a:r>
            <a:endParaRPr lang="en-US" sz="1300" dirty="0"/>
          </a:p>
        </p:txBody>
      </p:sp>
      <p:sp>
        <p:nvSpPr>
          <p:cNvPr id="30" name="Shape 27"/>
          <p:cNvSpPr/>
          <p:nvPr/>
        </p:nvSpPr>
        <p:spPr>
          <a:xfrm>
            <a:off x="8046720" y="4343400"/>
            <a:ext cx="3474720" cy="731520"/>
          </a:xfrm>
          <a:prstGeom prst="roundRect">
            <a:avLst>
              <a:gd name="adj" fmla="val 12500"/>
            </a:avLst>
          </a:prstGeom>
          <a:solidFill>
            <a:srgbClr val="0B3C49"/>
          </a:solidFill>
          <a:ln w="12700">
            <a:solidFill>
              <a:srgbClr val="0B3C49"/>
            </a:solidFill>
            <a:prstDash val="solid"/>
          </a:ln>
        </p:spPr>
      </p:sp>
      <p:sp>
        <p:nvSpPr>
          <p:cNvPr id="31" name="Text 28"/>
          <p:cNvSpPr/>
          <p:nvPr/>
        </p:nvSpPr>
        <p:spPr>
          <a:xfrm>
            <a:off x="8101584" y="4343400"/>
            <a:ext cx="3364992"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PreferencesStore</a:t>
            </a:r>
            <a:endParaRPr lang="en-US" sz="1300" dirty="0"/>
          </a:p>
        </p:txBody>
      </p:sp>
      <p:sp>
        <p:nvSpPr>
          <p:cNvPr id="32" name="Shape 29"/>
          <p:cNvSpPr/>
          <p:nvPr/>
        </p:nvSpPr>
        <p:spPr>
          <a:xfrm>
            <a:off x="1645920" y="2743200"/>
            <a:ext cx="0" cy="1600200"/>
          </a:xfrm>
          <a:prstGeom prst="line">
            <a:avLst/>
          </a:prstGeom>
          <a:noFill/>
          <a:ln w="19050">
            <a:solidFill>
              <a:srgbClr val="5B6B72"/>
            </a:solidFill>
            <a:prstDash val="solid"/>
            <a:tailEnd type="triangle"/>
          </a:ln>
        </p:spPr>
      </p:sp>
      <p:sp>
        <p:nvSpPr>
          <p:cNvPr id="33" name="Shape 30"/>
          <p:cNvSpPr/>
          <p:nvPr/>
        </p:nvSpPr>
        <p:spPr>
          <a:xfrm>
            <a:off x="5303520" y="3794760"/>
            <a:ext cx="182880" cy="548640"/>
          </a:xfrm>
          <a:prstGeom prst="line">
            <a:avLst/>
          </a:prstGeom>
          <a:noFill/>
          <a:ln w="19050">
            <a:solidFill>
              <a:srgbClr val="5B6B72"/>
            </a:solidFill>
            <a:prstDash val="solid"/>
            <a:tailEnd type="triangle"/>
          </a:ln>
        </p:spPr>
      </p:sp>
      <p:sp>
        <p:nvSpPr>
          <p:cNvPr id="34" name="Shape 31"/>
          <p:cNvSpPr/>
          <p:nvPr/>
        </p:nvSpPr>
        <p:spPr>
          <a:xfrm>
            <a:off x="10789920" y="2743200"/>
            <a:ext cx="0" cy="1600200"/>
          </a:xfrm>
          <a:prstGeom prst="line">
            <a:avLst/>
          </a:prstGeom>
          <a:noFill/>
          <a:ln w="19050">
            <a:solidFill>
              <a:srgbClr val="5B6B72"/>
            </a:solidFill>
            <a:prstDash val="solid"/>
            <a:tailEnd type="triangle"/>
          </a:ln>
        </p:spPr>
      </p:sp>
      <p:sp>
        <p:nvSpPr>
          <p:cNvPr id="35" name="Text 32"/>
          <p:cNvSpPr/>
          <p:nvPr/>
        </p:nvSpPr>
        <p:spPr>
          <a:xfrm>
            <a:off x="640080" y="6217920"/>
            <a:ext cx="10908792" cy="228600"/>
          </a:xfrm>
          <a:prstGeom prst="rect">
            <a:avLst/>
          </a:prstGeom>
          <a:noFill/>
          <a:ln/>
        </p:spPr>
        <p:txBody>
          <a:bodyPr wrap="square" lIns="0" tIns="0" rIns="0" bIns="0" rtlCol="0" anchor="ctr"/>
          <a:lstStyle/>
          <a:p>
            <a:pPr indent="0" marL="0">
              <a:buNone/>
            </a:pPr>
            <a:r>
              <a:rPr lang="en-US" sz="1000" i="1" dirty="0">
                <a:solidFill>
                  <a:srgbClr val="5B6B72"/>
                </a:solidFill>
                <a:latin typeface="Calibri" pitchFamily="34" charset="0"/>
                <a:ea typeface="Calibri" pitchFamily="34" charset="-122"/>
                <a:cs typeface="Calibri" pitchFamily="34" charset="-120"/>
              </a:rPr>
              <a:t>Dashed: domain is used by every layer and imports nothing from Angular, Firebase or the DOM</a:t>
            </a:r>
            <a:endParaRPr lang="en-US" sz="1000" dirty="0"/>
          </a:p>
        </p:txBody>
      </p:sp>
      <p:sp>
        <p:nvSpPr>
          <p:cNvPr id="36" name="Shape 33"/>
          <p:cNvSpPr/>
          <p:nvPr/>
        </p:nvSpPr>
        <p:spPr>
          <a:xfrm>
            <a:off x="2743200" y="5577840"/>
            <a:ext cx="6675120" cy="548640"/>
          </a:xfrm>
          <a:prstGeom prst="roundRect">
            <a:avLst>
              <a:gd name="adj" fmla="val 16667"/>
            </a:avLst>
          </a:prstGeom>
          <a:solidFill>
            <a:srgbClr val="9FC3C9"/>
          </a:solidFill>
          <a:ln w="12700">
            <a:solidFill>
              <a:srgbClr val="9FC3C9"/>
            </a:solidFill>
            <a:prstDash val="solid"/>
          </a:ln>
        </p:spPr>
      </p:sp>
      <p:sp>
        <p:nvSpPr>
          <p:cNvPr id="37" name="Text 34"/>
          <p:cNvSpPr/>
          <p:nvPr/>
        </p:nvSpPr>
        <p:spPr>
          <a:xfrm>
            <a:off x="2798064" y="5577840"/>
            <a:ext cx="6565392" cy="548640"/>
          </a:xfrm>
          <a:prstGeom prst="rect">
            <a:avLst/>
          </a:prstGeom>
          <a:noFill/>
          <a:ln/>
        </p:spPr>
        <p:txBody>
          <a:bodyPr wrap="square" lIns="0" tIns="0" rIns="0" bIns="0" rtlCol="0" anchor="ctr"/>
          <a:lstStyle/>
          <a:p>
            <a:pPr algn="ctr" indent="0" marL="0">
              <a:buNone/>
            </a:pPr>
            <a:r>
              <a:rPr lang="en-US" sz="1400" b="1" dirty="0">
                <a:solidFill>
                  <a:srgbClr val="0B3C49"/>
                </a:solidFill>
                <a:latin typeface="Calibri" pitchFamily="34" charset="0"/>
                <a:ea typeface="Calibri" pitchFamily="34" charset="-122"/>
                <a:cs typeface="Calibri" pitchFamily="34" charset="-120"/>
              </a:rPr>
              <a:t>Firebase Authentication + Firestore</a:t>
            </a:r>
            <a:endParaRPr lang="en-US" sz="1400" dirty="0"/>
          </a:p>
        </p:txBody>
      </p:sp>
      <p:sp>
        <p:nvSpPr>
          <p:cNvPr id="38" name="Shape 35"/>
          <p:cNvSpPr/>
          <p:nvPr/>
        </p:nvSpPr>
        <p:spPr>
          <a:xfrm>
            <a:off x="2377440" y="5074920"/>
            <a:ext cx="1737360" cy="502920"/>
          </a:xfrm>
          <a:prstGeom prst="line">
            <a:avLst/>
          </a:prstGeom>
          <a:noFill/>
          <a:ln w="19050">
            <a:solidFill>
              <a:srgbClr val="5B6B72"/>
            </a:solidFill>
            <a:prstDash val="solid"/>
            <a:tailEnd type="triangle"/>
          </a:ln>
        </p:spPr>
      </p:sp>
      <p:sp>
        <p:nvSpPr>
          <p:cNvPr id="39" name="Shape 36"/>
          <p:cNvSpPr/>
          <p:nvPr/>
        </p:nvSpPr>
        <p:spPr>
          <a:xfrm>
            <a:off x="6080760" y="5074920"/>
            <a:ext cx="0" cy="502920"/>
          </a:xfrm>
          <a:prstGeom prst="line">
            <a:avLst/>
          </a:prstGeom>
          <a:noFill/>
          <a:ln w="19050">
            <a:solidFill>
              <a:srgbClr val="5B6B72"/>
            </a:solidFill>
            <a:prstDash val="solid"/>
            <a:tailEnd type="triangle"/>
          </a:ln>
        </p:spPr>
      </p:sp>
      <p:sp>
        <p:nvSpPr>
          <p:cNvPr id="40" name="Shape 37"/>
          <p:cNvSpPr/>
          <p:nvPr/>
        </p:nvSpPr>
        <p:spPr>
          <a:xfrm flipH="1">
            <a:off x="8046720" y="5074920"/>
            <a:ext cx="1737360" cy="502920"/>
          </a:xfrm>
          <a:prstGeom prst="line">
            <a:avLst/>
          </a:prstGeom>
          <a:noFill/>
          <a:ln w="19050">
            <a:solidFill>
              <a:srgbClr val="5B6B72"/>
            </a:solidFill>
            <a:prstDash val="solid"/>
            <a:tailEnd type="triangle"/>
          </a:ln>
        </p:spPr>
      </p:sp>
      <p:sp>
        <p:nvSpPr>
          <p:cNvPr id="41" name="Text 38"/>
          <p:cNvSpPr/>
          <p:nvPr/>
        </p:nvSpPr>
        <p:spPr>
          <a:xfrm>
            <a:off x="640080" y="5623560"/>
            <a:ext cx="2011680" cy="457200"/>
          </a:xfrm>
          <a:prstGeom prst="rect">
            <a:avLst/>
          </a:prstGeom>
          <a:noFill/>
          <a:ln/>
        </p:spPr>
        <p:txBody>
          <a:bodyPr wrap="square" lIns="0" tIns="0" rIns="0" bIns="0" rtlCol="0" anchor="ctr"/>
          <a:lstStyle/>
          <a:p>
            <a:pPr indent="0" marL="0">
              <a:buNone/>
            </a:pPr>
            <a:r>
              <a:rPr lang="en-US" sz="1100" i="1" dirty="0">
                <a:solidFill>
                  <a:srgbClr val="5B6B72"/>
                </a:solidFill>
                <a:latin typeface="Calibri" pitchFamily="34" charset="0"/>
                <a:ea typeface="Calibri" pitchFamily="34" charset="-122"/>
                <a:cs typeface="Calibri" pitchFamily="34" charset="-120"/>
              </a:rPr>
              <a:t>core/data: the only code that imports Firebase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08792" cy="82296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3. Inside the app: five layers</a:t>
            </a:r>
            <a:endParaRPr lang="en-US" sz="3200" dirty="0"/>
          </a:p>
        </p:txBody>
      </p:sp>
      <p:sp>
        <p:nvSpPr>
          <p:cNvPr id="3" name="Text 1"/>
          <p:cNvSpPr/>
          <p:nvPr/>
        </p:nvSpPr>
        <p:spPr>
          <a:xfrm>
            <a:off x="640080" y="6446520"/>
            <a:ext cx="6400800" cy="27432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Weight4All · Solution Design</a:t>
            </a:r>
            <a:endParaRPr lang="en-US" sz="1000" dirty="0"/>
          </a:p>
        </p:txBody>
      </p:sp>
      <p:sp>
        <p:nvSpPr>
          <p:cNvPr id="4" name="Text 2"/>
          <p:cNvSpPr/>
          <p:nvPr/>
        </p:nvSpPr>
        <p:spPr>
          <a:xfrm>
            <a:off x="10634472" y="6446520"/>
            <a:ext cx="914400" cy="274320"/>
          </a:xfrm>
          <a:prstGeom prst="rect">
            <a:avLst/>
          </a:prstGeom>
          <a:noFill/>
          <a:ln/>
        </p:spPr>
        <p:txBody>
          <a:bodyPr wrap="square" lIns="0" tIns="0" rIns="0" bIns="0" rtlCol="0" anchor="ctr"/>
          <a:lstStyle/>
          <a:p>
            <a:pPr algn="r" indent="0" marL="0">
              <a:buNone/>
            </a:pPr>
            <a:r>
              <a:rPr lang="en-US" sz="1000" dirty="0">
                <a:solidFill>
                  <a:srgbClr val="5B6B72"/>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0908792" cy="914400"/>
        </p:xfrm>
        <a:graphic>
          <a:graphicData uri="http://schemas.openxmlformats.org/drawingml/2006/table">
            <a:tbl>
              <a:tblPr/>
              <a:tblGrid>
                <a:gridCol w="1645920"/>
                <a:gridCol w="4206240"/>
                <a:gridCol w="5056632"/>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Layer</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solidFill>
                      <a:srgbClr val="0B3C4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Directory</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solidFill>
                      <a:srgbClr val="0B3C4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Owns</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solidFill>
                      <a:srgbClr val="0B3C49"/>
                    </a:solidFill>
                  </a:tcPr>
                </a:tc>
              </a:tr>
              <a:tr h="566928">
                <a:tc>
                  <a:txBody>
                    <a:bodyPr/>
                    <a:lstStyle/>
                    <a:p>
                      <a:pPr indent="0" marL="0">
                        <a:buNone/>
                      </a:pPr>
                      <a:r>
                        <a:rPr lang="en-US" sz="1300" b="1" dirty="0">
                          <a:solidFill>
                            <a:srgbClr val="1F2D33"/>
                          </a:solidFill>
                          <a:latin typeface="Calibri" pitchFamily="34" charset="0"/>
                          <a:ea typeface="Calibri" pitchFamily="34" charset="-122"/>
                          <a:cs typeface="Calibri" pitchFamily="34" charset="-120"/>
                        </a:rPr>
                        <a:t>Features</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100" dirty="0">
                          <a:solidFill>
                            <a:srgbClr val="1F2D33"/>
                          </a:solidFill>
                          <a:latin typeface="Courier New" pitchFamily="34" charset="0"/>
                          <a:ea typeface="Courier New" pitchFamily="34" charset="-122"/>
                          <a:cs typeface="Courier New" pitchFamily="34" charset="-120"/>
                        </a:rPr>
                        <a:t>src/app/features/*</a:t>
                      </a:r>
                      <a:endParaRPr lang="en-US" sz="1100" dirty="0">
                        <a:latin typeface="Courier New" charset="0"/>
                        <a:ea typeface="Courier New" charset="0"/>
                        <a:cs typeface="Courier New"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Screens (auth, today, history, report, settings), feature-local components, routes</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r h="566928">
                <a:tc>
                  <a:txBody>
                    <a:bodyPr/>
                    <a:lstStyle/>
                    <a:p>
                      <a:pPr indent="0" marL="0">
                        <a:buNone/>
                      </a:pPr>
                      <a:r>
                        <a:rPr lang="en-US" sz="1300" b="1" dirty="0">
                          <a:solidFill>
                            <a:srgbClr val="1F2D33"/>
                          </a:solidFill>
                          <a:latin typeface="Calibri" pitchFamily="34" charset="0"/>
                          <a:ea typeface="Calibri" pitchFamily="34" charset="-122"/>
                          <a:cs typeface="Calibri" pitchFamily="34" charset="-120"/>
                        </a:rPr>
                        <a:t>Shell</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100" dirty="0">
                          <a:solidFill>
                            <a:srgbClr val="1F2D33"/>
                          </a:solidFill>
                          <a:latin typeface="Courier New" pitchFamily="34" charset="0"/>
                          <a:ea typeface="Courier New" pitchFamily="34" charset="-122"/>
                          <a:cs typeface="Courier New" pitchFamily="34" charset="-120"/>
                        </a:rPr>
                        <a:t>src/app/shell</a:t>
                      </a:r>
                      <a:endParaRPr lang="en-US" sz="1100" dirty="0">
                        <a:latin typeface="Courier New" charset="0"/>
                        <a:ea typeface="Courier New" charset="0"/>
                        <a:cs typeface="Courier New"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Navigation bar/rail, the windowClass signal, route guard wiring</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r h="566928">
                <a:tc>
                  <a:txBody>
                    <a:bodyPr/>
                    <a:lstStyle/>
                    <a:p>
                      <a:pPr indent="0" marL="0">
                        <a:buNone/>
                      </a:pPr>
                      <a:r>
                        <a:rPr lang="en-US" sz="1300" b="1" dirty="0">
                          <a:solidFill>
                            <a:srgbClr val="1F2D33"/>
                          </a:solidFill>
                          <a:latin typeface="Calibri" pitchFamily="34" charset="0"/>
                          <a:ea typeface="Calibri" pitchFamily="34" charset="-122"/>
                          <a:cs typeface="Calibri" pitchFamily="34" charset="-120"/>
                        </a:rPr>
                        <a:t>Domain</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100" dirty="0">
                          <a:solidFill>
                            <a:srgbClr val="1F2D33"/>
                          </a:solidFill>
                          <a:latin typeface="Courier New" pitchFamily="34" charset="0"/>
                          <a:ea typeface="Courier New" pitchFamily="34" charset="-122"/>
                          <a:cs typeface="Courier New" pitchFamily="34" charset="-120"/>
                        </a:rPr>
                        <a:t>src/app/domain</a:t>
                      </a:r>
                      <a:endParaRPr lang="en-US" sz="1100" dirty="0">
                        <a:latin typeface="Courier New" charset="0"/>
                        <a:ea typeface="Courier New" charset="0"/>
                        <a:cs typeface="Courier New"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Pure functions and types: dimensions, day, series, stats, history, happy-effect, validation, number</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r h="566928">
                <a:tc>
                  <a:txBody>
                    <a:bodyPr/>
                    <a:lstStyle/>
                    <a:p>
                      <a:pPr indent="0" marL="0">
                        <a:buNone/>
                      </a:pPr>
                      <a:r>
                        <a:rPr lang="en-US" sz="1300" b="1" dirty="0">
                          <a:solidFill>
                            <a:srgbClr val="1F2D33"/>
                          </a:solidFill>
                          <a:latin typeface="Calibri" pitchFamily="34" charset="0"/>
                          <a:ea typeface="Calibri" pitchFamily="34" charset="-122"/>
                          <a:cs typeface="Calibri" pitchFamily="34" charset="-120"/>
                        </a:rPr>
                        <a:t>Data</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100" dirty="0">
                          <a:solidFill>
                            <a:srgbClr val="1F2D33"/>
                          </a:solidFill>
                          <a:latin typeface="Courier New" pitchFamily="34" charset="0"/>
                          <a:ea typeface="Courier New" pitchFamily="34" charset="-122"/>
                          <a:cs typeface="Courier New" pitchFamily="34" charset="-120"/>
                        </a:rPr>
                        <a:t>src/app/core/data</a:t>
                      </a:r>
                      <a:endParaRPr lang="en-US" sz="1100" dirty="0">
                        <a:latin typeface="Courier New" charset="0"/>
                        <a:ea typeface="Courier New" charset="0"/>
                        <a:cs typeface="Courier New"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firebase.ts, AuthService, SessionScope, EntryStore, PreferencesStore</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r h="566928">
                <a:tc>
                  <a:txBody>
                    <a:bodyPr/>
                    <a:lstStyle/>
                    <a:p>
                      <a:pPr indent="0" marL="0">
                        <a:buNone/>
                      </a:pPr>
                      <a:r>
                        <a:rPr lang="en-US" sz="1300" b="1" dirty="0">
                          <a:solidFill>
                            <a:srgbClr val="1F2D33"/>
                          </a:solidFill>
                          <a:latin typeface="Calibri" pitchFamily="34" charset="0"/>
                          <a:ea typeface="Calibri" pitchFamily="34" charset="-122"/>
                          <a:cs typeface="Calibri" pitchFamily="34" charset="-120"/>
                        </a:rPr>
                        <a:t>Shared UI</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100" dirty="0">
                          <a:solidFill>
                            <a:srgbClr val="1F2D33"/>
                          </a:solidFill>
                          <a:latin typeface="Courier New" pitchFamily="34" charset="0"/>
                          <a:ea typeface="Courier New" pitchFamily="34" charset="-122"/>
                          <a:cs typeface="Courier New" pitchFamily="34" charset="-120"/>
                        </a:rPr>
                        <a:t>src/app/shared</a:t>
                      </a:r>
                      <a:endParaRPr lang="en-US" sz="1100" dirty="0">
                        <a:latin typeface="Courier New" charset="0"/>
                        <a:ea typeface="Courier New" charset="0"/>
                        <a:cs typeface="Courier New"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Reusable components incl. EntryFormComponent, theme, strings.ts</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bl>
          </a:graphicData>
        </a:graphic>
      </p:graphicFrame>
      <p:sp>
        <p:nvSpPr>
          <p:cNvPr id="7" name="Text 3"/>
          <p:cNvSpPr/>
          <p:nvPr/>
        </p:nvSpPr>
        <p:spPr>
          <a:xfrm>
            <a:off x="640080" y="5120640"/>
            <a:ext cx="10908792" cy="822960"/>
          </a:xfrm>
          <a:prstGeom prst="rect">
            <a:avLst/>
          </a:prstGeom>
          <a:noFill/>
          <a:ln/>
        </p:spPr>
        <p:txBody>
          <a:bodyPr wrap="square" lIns="0" tIns="0" rIns="0" bIns="0" rtlCol="0" anchor="ctr"/>
          <a:lstStyle/>
          <a:p>
            <a:pPr indent="0" marL="0">
              <a:buNone/>
            </a:pPr>
            <a:r>
              <a:rPr lang="en-US" sz="1600" dirty="0">
                <a:solidFill>
                  <a:srgbClr val="1F2D33"/>
                </a:solidFill>
                <a:latin typeface="Calibri" pitchFamily="34" charset="0"/>
                <a:ea typeface="Calibri" pitchFamily="34" charset="-122"/>
                <a:cs typeface="Calibri" pitchFamily="34" charset="-120"/>
              </a:rPr>
              <a:t>Rule of thumb: features and shell read data through store signals and never import firebase/*; domain never imports Angular, Firebase or the DOM.</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08792" cy="82296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4. The data: one document per day</a:t>
            </a:r>
            <a:endParaRPr lang="en-US" sz="3200" dirty="0"/>
          </a:p>
        </p:txBody>
      </p:sp>
      <p:sp>
        <p:nvSpPr>
          <p:cNvPr id="3" name="Text 1"/>
          <p:cNvSpPr/>
          <p:nvPr/>
        </p:nvSpPr>
        <p:spPr>
          <a:xfrm>
            <a:off x="640080" y="6446520"/>
            <a:ext cx="6400800" cy="27432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Weight4All · Solution Design</a:t>
            </a:r>
            <a:endParaRPr lang="en-US" sz="1000" dirty="0"/>
          </a:p>
        </p:txBody>
      </p:sp>
      <p:sp>
        <p:nvSpPr>
          <p:cNvPr id="4" name="Text 2"/>
          <p:cNvSpPr/>
          <p:nvPr/>
        </p:nvSpPr>
        <p:spPr>
          <a:xfrm>
            <a:off x="10634472" y="6446520"/>
            <a:ext cx="914400" cy="274320"/>
          </a:xfrm>
          <a:prstGeom prst="rect">
            <a:avLst/>
          </a:prstGeom>
          <a:noFill/>
          <a:ln/>
        </p:spPr>
        <p:txBody>
          <a:bodyPr wrap="square" lIns="0" tIns="0" rIns="0" bIns="0" rtlCol="0" anchor="ctr"/>
          <a:lstStyle/>
          <a:p>
            <a:pPr algn="r" indent="0" marL="0">
              <a:buNone/>
            </a:pPr>
            <a:r>
              <a:rPr lang="en-US" sz="1000" dirty="0">
                <a:solidFill>
                  <a:srgbClr val="5B6B72"/>
                </a:solidFill>
                <a:latin typeface="Calibri" pitchFamily="34" charset="0"/>
                <a:ea typeface="Calibri" pitchFamily="34" charset="-122"/>
                <a:cs typeface="Calibri" pitchFamily="34" charset="-120"/>
              </a:rPr>
              <a:t>6</a:t>
            </a:r>
            <a:endParaRPr lang="en-US" sz="1000" dirty="0"/>
          </a:p>
        </p:txBody>
      </p:sp>
      <p:sp>
        <p:nvSpPr>
          <p:cNvPr id="6" name="Text 3"/>
          <p:cNvSpPr/>
          <p:nvPr/>
        </p:nvSpPr>
        <p:spPr>
          <a:xfrm>
            <a:off x="640080" y="1325880"/>
            <a:ext cx="6766560" cy="457200"/>
          </a:xfrm>
          <a:prstGeom prst="rect">
            <a:avLst/>
          </a:prstGeom>
          <a:noFill/>
          <a:ln/>
        </p:spPr>
        <p:txBody>
          <a:bodyPr wrap="square" lIns="0" tIns="0" rIns="0" bIns="0" rtlCol="0" anchor="ctr"/>
          <a:lstStyle/>
          <a:p>
            <a:pPr indent="0" marL="0">
              <a:buNone/>
            </a:pPr>
            <a:r>
              <a:rPr lang="en-US" sz="1800" b="1" dirty="0">
                <a:solidFill>
                  <a:srgbClr val="028090"/>
                </a:solidFill>
                <a:latin typeface="Courier New" pitchFamily="34" charset="0"/>
                <a:ea typeface="Courier New" pitchFamily="34" charset="-122"/>
                <a:cs typeface="Courier New" pitchFamily="34" charset="-120"/>
              </a:rPr>
              <a:t>users/{uid}/entries/YYYY-MM-DD</a:t>
            </a:r>
            <a:endParaRPr lang="en-US" sz="1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6766560" cy="914400"/>
        </p:xfrm>
        <a:graphic>
          <a:graphicData uri="http://schemas.openxmlformats.org/drawingml/2006/table">
            <a:tbl>
              <a:tblPr/>
              <a:tblGrid>
                <a:gridCol w="1645920"/>
                <a:gridCol w="1554480"/>
                <a:gridCol w="356616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Field</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solidFill>
                      <a:srgbClr val="0B3C4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Required</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solidFill>
                      <a:srgbClr val="0B3C4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Values</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solidFill>
                      <a:srgbClr val="0B3C49"/>
                    </a:solidFill>
                  </a:tcPr>
                </a:tc>
              </a:tr>
              <a:tr h="457200">
                <a:tc>
                  <a:txBody>
                    <a:bodyPr/>
                    <a:lstStyle/>
                    <a:p>
                      <a:pPr indent="0" marL="0">
                        <a:buNone/>
                      </a:pPr>
                      <a:r>
                        <a:rPr lang="en-US" sz="1300" b="1" dirty="0">
                          <a:solidFill>
                            <a:srgbClr val="1F2D33"/>
                          </a:solidFill>
                          <a:latin typeface="Calibri" pitchFamily="34" charset="0"/>
                          <a:ea typeface="Calibri" pitchFamily="34" charset="-122"/>
                          <a:cs typeface="Calibri" pitchFamily="34" charset="-120"/>
                        </a:rPr>
                        <a:t>weight</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20.0 – 400.0 kg, one decimal</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r h="457200">
                <a:tc>
                  <a:txBody>
                    <a:bodyPr/>
                    <a:lstStyle/>
                    <a:p>
                      <a:pPr indent="0" marL="0">
                        <a:buNone/>
                      </a:pPr>
                      <a:r>
                        <a:rPr lang="en-US" sz="1300" b="1" dirty="0">
                          <a:solidFill>
                            <a:srgbClr val="1F2D33"/>
                          </a:solidFill>
                          <a:latin typeface="Calibri" pitchFamily="34" charset="0"/>
                          <a:ea typeface="Calibri" pitchFamily="34" charset="-122"/>
                          <a:cs typeface="Calibri" pitchFamily="34" charset="-120"/>
                        </a:rPr>
                        <a:t>mood</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integer 1 to 10</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r h="457200">
                <a:tc>
                  <a:txBody>
                    <a:bodyPr/>
                    <a:lstStyle/>
                    <a:p>
                      <a:pPr indent="0" marL="0">
                        <a:buNone/>
                      </a:pPr>
                      <a:r>
                        <a:rPr lang="en-US" sz="1300" b="1" dirty="0">
                          <a:solidFill>
                            <a:srgbClr val="1F2D33"/>
                          </a:solidFill>
                          <a:latin typeface="Calibri" pitchFamily="34" charset="0"/>
                          <a:ea typeface="Calibri" pitchFamily="34" charset="-122"/>
                          <a:cs typeface="Calibri" pitchFamily="34" charset="-120"/>
                        </a:rPr>
                        <a:t>sleep</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0 – 24 hours, half-hour steps</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r h="457200">
                <a:tc>
                  <a:txBody>
                    <a:bodyPr/>
                    <a:lstStyle/>
                    <a:p>
                      <a:pPr indent="0" marL="0">
                        <a:buNone/>
                      </a:pPr>
                      <a:r>
                        <a:rPr lang="en-US" sz="1300" b="1" dirty="0">
                          <a:solidFill>
                            <a:srgbClr val="1F2D33"/>
                          </a:solidFill>
                          <a:latin typeface="Calibri" pitchFamily="34" charset="0"/>
                          <a:ea typeface="Calibri" pitchFamily="34" charset="-122"/>
                          <a:cs typeface="Calibri" pitchFamily="34" charset="-120"/>
                        </a:rPr>
                        <a:t>updatedAt</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server timestamp</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bl>
          </a:graphicData>
        </a:graphic>
      </p:graphicFrame>
      <p:sp>
        <p:nvSpPr>
          <p:cNvPr id="8" name="Text 4"/>
          <p:cNvSpPr/>
          <p:nvPr/>
        </p:nvSpPr>
        <p:spPr>
          <a:xfrm>
            <a:off x="640080" y="4480560"/>
            <a:ext cx="6766560" cy="731520"/>
          </a:xfrm>
          <a:prstGeom prst="rect">
            <a:avLst/>
          </a:prstGeom>
          <a:noFill/>
          <a:ln/>
        </p:spPr>
        <p:txBody>
          <a:bodyPr wrap="square" lIns="0" tIns="0" rIns="0" bIns="0" rtlCol="0" anchor="ctr"/>
          <a:lstStyle/>
          <a:p>
            <a:pPr indent="0" marL="0">
              <a:buNone/>
            </a:pPr>
            <a:r>
              <a:rPr lang="en-US" sz="1400" dirty="0">
                <a:solidFill>
                  <a:srgbClr val="5B6B72"/>
                </a:solidFill>
                <a:latin typeface="Calibri" pitchFamily="34" charset="0"/>
                <a:ea typeface="Calibri" pitchFamily="34" charset="-122"/>
                <a:cs typeface="Calibri" pitchFamily="34" charset="-120"/>
              </a:rPr>
              <a:t>Preferences (accent color and language) live in a separate document: users/{uid}/preferences/app.</a:t>
            </a:r>
            <a:endParaRPr lang="en-US" sz="1400" dirty="0"/>
          </a:p>
        </p:txBody>
      </p:sp>
      <p:sp>
        <p:nvSpPr>
          <p:cNvPr id="9" name="Shape 5"/>
          <p:cNvSpPr/>
          <p:nvPr/>
        </p:nvSpPr>
        <p:spPr>
          <a:xfrm>
            <a:off x="7772400" y="1325880"/>
            <a:ext cx="3794760" cy="4297680"/>
          </a:xfrm>
          <a:prstGeom prst="roundRect">
            <a:avLst>
              <a:gd name="adj" fmla="val 2892"/>
            </a:avLst>
          </a:prstGeom>
          <a:solidFill>
            <a:srgbClr val="F4F8F9"/>
          </a:solidFill>
          <a:ln w="12700">
            <a:solidFill>
              <a:srgbClr val="D5E5E8"/>
            </a:solidFill>
            <a:prstDash val="solid"/>
          </a:ln>
        </p:spPr>
      </p:sp>
      <p:sp>
        <p:nvSpPr>
          <p:cNvPr id="10" name="Text 6"/>
          <p:cNvSpPr/>
          <p:nvPr/>
        </p:nvSpPr>
        <p:spPr>
          <a:xfrm>
            <a:off x="7955280" y="1435608"/>
            <a:ext cx="3429000" cy="411480"/>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Rules on the data</a:t>
            </a:r>
            <a:endParaRPr lang="en-US" sz="1600" dirty="0"/>
          </a:p>
        </p:txBody>
      </p:sp>
      <p:sp>
        <p:nvSpPr>
          <p:cNvPr id="11" name="Text 7"/>
          <p:cNvSpPr/>
          <p:nvPr/>
        </p:nvSpPr>
        <p:spPr>
          <a:xfrm>
            <a:off x="7955280" y="1892808"/>
            <a:ext cx="3429000" cy="3639312"/>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rgbClr val="1F2D33"/>
                </a:solidFill>
                <a:latin typeface="Calibri" pitchFamily="34" charset="0"/>
                <a:ea typeface="Calibri" pitchFamily="34" charset="-122"/>
                <a:cs typeface="Calibri" pitchFamily="34" charset="-120"/>
              </a:rPr>
              <a:t>The date is the document name: a day cannot have two records.</a:t>
            </a:r>
            <a:endParaRPr lang="en-US" sz="1500" dirty="0"/>
          </a:p>
          <a:p>
            <a:pPr marL="342900" indent="-342900">
              <a:spcAft>
                <a:spcPts val="500"/>
              </a:spcAft>
              <a:buSzPct val="100000"/>
              <a:buChar char="•"/>
            </a:pPr>
            <a:r>
              <a:rPr lang="en-US" sz="1500" dirty="0">
                <a:solidFill>
                  <a:srgbClr val="1F2D33"/>
                </a:solidFill>
                <a:latin typeface="Calibri" pitchFamily="34" charset="0"/>
                <a:ea typeface="Calibri" pitchFamily="34" charset="-122"/>
                <a:cs typeface="Calibri" pitchFamily="34" charset="-120"/>
              </a:rPr>
              <a:t>A value not entered is an absent field, never zero.</a:t>
            </a:r>
            <a:endParaRPr lang="en-US" sz="1500" dirty="0"/>
          </a:p>
          <a:p>
            <a:pPr marL="342900" indent="-342900">
              <a:spcAft>
                <a:spcPts val="500"/>
              </a:spcAft>
              <a:buSzPct val="100000"/>
              <a:buChar char="•"/>
            </a:pPr>
            <a:r>
              <a:rPr lang="en-US" sz="1500" dirty="0">
                <a:solidFill>
                  <a:srgbClr val="1F2D33"/>
                </a:solidFill>
                <a:latin typeface="Calibri" pitchFamily="34" charset="0"/>
                <a:ea typeface="Calibri" pitchFamily="34" charset="-122"/>
                <a:cs typeface="Calibri" pitchFamily="34" charset="-120"/>
              </a:rPr>
              <a:t>Save replaces the whole document, so clearing a value really removes it.</a:t>
            </a:r>
            <a:endParaRPr lang="en-US" sz="1500" dirty="0"/>
          </a:p>
          <a:p>
            <a:pPr marL="342900" indent="-342900">
              <a:spcAft>
                <a:spcPts val="500"/>
              </a:spcAft>
              <a:buSzPct val="100000"/>
              <a:buChar char="•"/>
            </a:pPr>
            <a:r>
              <a:rPr lang="en-US" sz="1500" dirty="0">
                <a:solidFill>
                  <a:srgbClr val="1F2D33"/>
                </a:solidFill>
                <a:latin typeface="Calibri" pitchFamily="34" charset="0"/>
                <a:ea typeface="Calibri" pitchFamily="34" charset="-122"/>
                <a:cs typeface="Calibri" pitchFamily="34" charset="-120"/>
              </a:rPr>
              <a:t>A new measure is a new optional field: no migration.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08792" cy="82296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4. The data: the price of flat fields</a:t>
            </a:r>
            <a:endParaRPr lang="en-US" sz="3200" dirty="0"/>
          </a:p>
        </p:txBody>
      </p:sp>
      <p:sp>
        <p:nvSpPr>
          <p:cNvPr id="3" name="Text 1"/>
          <p:cNvSpPr/>
          <p:nvPr/>
        </p:nvSpPr>
        <p:spPr>
          <a:xfrm>
            <a:off x="640080" y="6446520"/>
            <a:ext cx="6400800" cy="27432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Weight4All · Solution Design</a:t>
            </a:r>
            <a:endParaRPr lang="en-US" sz="1000" dirty="0"/>
          </a:p>
        </p:txBody>
      </p:sp>
      <p:sp>
        <p:nvSpPr>
          <p:cNvPr id="4" name="Text 2"/>
          <p:cNvSpPr/>
          <p:nvPr/>
        </p:nvSpPr>
        <p:spPr>
          <a:xfrm>
            <a:off x="10634472" y="6446520"/>
            <a:ext cx="914400" cy="274320"/>
          </a:xfrm>
          <a:prstGeom prst="rect">
            <a:avLst/>
          </a:prstGeom>
          <a:noFill/>
          <a:ln/>
        </p:spPr>
        <p:txBody>
          <a:bodyPr wrap="square" lIns="0" tIns="0" rIns="0" bIns="0" rtlCol="0" anchor="ctr"/>
          <a:lstStyle/>
          <a:p>
            <a:pPr algn="r" indent="0" marL="0">
              <a:buNone/>
            </a:pPr>
            <a:r>
              <a:rPr lang="en-US" sz="1000" dirty="0">
                <a:solidFill>
                  <a:srgbClr val="5B6B72"/>
                </a:solidFill>
                <a:latin typeface="Calibri" pitchFamily="34" charset="0"/>
                <a:ea typeface="Calibri" pitchFamily="34" charset="-122"/>
                <a:cs typeface="Calibri" pitchFamily="34" charset="-120"/>
              </a:rPr>
              <a:t>7</a:t>
            </a:r>
            <a:endParaRPr lang="en-US" sz="1000" dirty="0"/>
          </a:p>
        </p:txBody>
      </p:sp>
      <p:sp>
        <p:nvSpPr>
          <p:cNvPr id="6" name="Shape 3"/>
          <p:cNvSpPr/>
          <p:nvPr/>
        </p:nvSpPr>
        <p:spPr>
          <a:xfrm>
            <a:off x="640080" y="1371600"/>
            <a:ext cx="5394960" cy="4206240"/>
          </a:xfrm>
          <a:prstGeom prst="roundRect">
            <a:avLst>
              <a:gd name="adj" fmla="val 2609"/>
            </a:avLst>
          </a:prstGeom>
          <a:solidFill>
            <a:srgbClr val="F4F8F9"/>
          </a:solidFill>
          <a:ln w="12700">
            <a:solidFill>
              <a:srgbClr val="D5E5E8"/>
            </a:solidFill>
            <a:prstDash val="solid"/>
          </a:ln>
        </p:spPr>
      </p:sp>
      <p:sp>
        <p:nvSpPr>
          <p:cNvPr id="7" name="Text 4"/>
          <p:cNvSpPr/>
          <p:nvPr/>
        </p:nvSpPr>
        <p:spPr>
          <a:xfrm>
            <a:off x="822960" y="1481328"/>
            <a:ext cx="5029200" cy="411480"/>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What we gain</a:t>
            </a:r>
            <a:endParaRPr lang="en-US" sz="1600" dirty="0"/>
          </a:p>
        </p:txBody>
      </p:sp>
      <p:sp>
        <p:nvSpPr>
          <p:cNvPr id="8" name="Text 5"/>
          <p:cNvSpPr/>
          <p:nvPr/>
        </p:nvSpPr>
        <p:spPr>
          <a:xfrm>
            <a:off x="822960" y="1938528"/>
            <a:ext cx="5029200" cy="3547872"/>
          </a:xfrm>
          <a:prstGeom prst="rect">
            <a:avLst/>
          </a:prstGeom>
          <a:noFill/>
          <a:ln/>
        </p:spPr>
        <p:txBody>
          <a:bodyPr wrap="square" lIns="0" tIns="0" rIns="0" bIns="0" rtlCol="0" anchor="t"/>
          <a:lstStyle/>
          <a:p>
            <a:pPr marL="342900" indent="-342900">
              <a:spcAft>
                <a:spcPts val="500"/>
              </a:spcAft>
              <a:buSzPct val="100000"/>
              <a:buChar char="•"/>
            </a:pPr>
            <a:r>
              <a:rPr lang="en-US" sz="1700" dirty="0">
                <a:solidFill>
                  <a:srgbClr val="1F2D33"/>
                </a:solidFill>
                <a:latin typeface="Calibri" pitchFamily="34" charset="0"/>
                <a:ea typeface="Calibri" pitchFamily="34" charset="-122"/>
                <a:cs typeface="Calibri" pitchFamily="34" charset="-120"/>
              </a:rPr>
              <a:t>Weight, mood and sleep are plain, readable fields.</a:t>
            </a:r>
            <a:endParaRPr lang="en-US" sz="1700" dirty="0"/>
          </a:p>
          <a:p>
            <a:pPr marL="342900" indent="-342900">
              <a:spcAft>
                <a:spcPts val="500"/>
              </a:spcAft>
              <a:buSzPct val="100000"/>
              <a:buChar char="•"/>
            </a:pPr>
            <a:r>
              <a:rPr lang="en-US" sz="1700" dirty="0">
                <a:solidFill>
                  <a:srgbClr val="1F2D33"/>
                </a:solidFill>
                <a:latin typeface="Calibri" pitchFamily="34" charset="0"/>
                <a:ea typeface="Calibri" pitchFamily="34" charset="-122"/>
                <a:cs typeface="Calibri" pitchFamily="34" charset="-120"/>
              </a:rPr>
              <a:t>A new measure (activity, food) is a new optional field.</a:t>
            </a:r>
            <a:endParaRPr lang="en-US" sz="1700" dirty="0"/>
          </a:p>
          <a:p>
            <a:pPr marL="342900" indent="-342900">
              <a:spcAft>
                <a:spcPts val="500"/>
              </a:spcAft>
              <a:buSzPct val="100000"/>
              <a:buChar char="•"/>
            </a:pPr>
            <a:r>
              <a:rPr lang="en-US" sz="1700" dirty="0">
                <a:solidFill>
                  <a:srgbClr val="1F2D33"/>
                </a:solidFill>
                <a:latin typeface="Calibri" pitchFamily="34" charset="0"/>
                <a:ea typeface="Calibri" pitchFamily="34" charset="-122"/>
                <a:cs typeface="Calibri" pitchFamily="34" charset="-120"/>
              </a:rPr>
              <a:t>Old days are never touched: no migration (NFR-2).</a:t>
            </a:r>
            <a:endParaRPr lang="en-US" sz="1700" dirty="0"/>
          </a:p>
        </p:txBody>
      </p:sp>
      <p:sp>
        <p:nvSpPr>
          <p:cNvPr id="9" name="Shape 6"/>
          <p:cNvSpPr/>
          <p:nvPr/>
        </p:nvSpPr>
        <p:spPr>
          <a:xfrm>
            <a:off x="6172200" y="1371600"/>
            <a:ext cx="5394960" cy="4206240"/>
          </a:xfrm>
          <a:prstGeom prst="roundRect">
            <a:avLst>
              <a:gd name="adj" fmla="val 2609"/>
            </a:avLst>
          </a:prstGeom>
          <a:solidFill>
            <a:srgbClr val="F4F8F9"/>
          </a:solidFill>
          <a:ln w="12700">
            <a:solidFill>
              <a:srgbClr val="D5E5E8"/>
            </a:solidFill>
            <a:prstDash val="solid"/>
          </a:ln>
        </p:spPr>
      </p:sp>
      <p:sp>
        <p:nvSpPr>
          <p:cNvPr id="10" name="Text 7"/>
          <p:cNvSpPr/>
          <p:nvPr/>
        </p:nvSpPr>
        <p:spPr>
          <a:xfrm>
            <a:off x="6355080" y="1481328"/>
            <a:ext cx="5029200" cy="411480"/>
          </a:xfrm>
          <a:prstGeom prst="rect">
            <a:avLst/>
          </a:prstGeom>
          <a:noFill/>
          <a:ln/>
        </p:spPr>
        <p:txBody>
          <a:bodyPr wrap="square" lIns="0" tIns="0" rIns="0" bIns="0" rtlCol="0" anchor="ctr"/>
          <a:lstStyle/>
          <a:p>
            <a:pPr indent="0" marL="0">
              <a:buNone/>
            </a:pPr>
            <a:r>
              <a:rPr lang="en-US" sz="1600" b="1" dirty="0">
                <a:solidFill>
                  <a:srgbClr val="F96167"/>
                </a:solidFill>
                <a:latin typeface="Cambria" pitchFamily="34" charset="0"/>
                <a:ea typeface="Cambria" pitchFamily="34" charset="-122"/>
                <a:cs typeface="Cambria" pitchFamily="34" charset="-120"/>
              </a:rPr>
              <a:t>What it costs</a:t>
            </a:r>
            <a:endParaRPr lang="en-US" sz="1600" dirty="0"/>
          </a:p>
        </p:txBody>
      </p:sp>
      <p:sp>
        <p:nvSpPr>
          <p:cNvPr id="11" name="Text 8"/>
          <p:cNvSpPr/>
          <p:nvPr/>
        </p:nvSpPr>
        <p:spPr>
          <a:xfrm>
            <a:off x="6355080" y="1938528"/>
            <a:ext cx="5029200" cy="3547872"/>
          </a:xfrm>
          <a:prstGeom prst="rect">
            <a:avLst/>
          </a:prstGeom>
          <a:noFill/>
          <a:ln/>
        </p:spPr>
        <p:txBody>
          <a:bodyPr wrap="square" lIns="0" tIns="0" rIns="0" bIns="0" rtlCol="0" anchor="t"/>
          <a:lstStyle/>
          <a:p>
            <a:pPr marL="342900" indent="-342900">
              <a:spcAft>
                <a:spcPts val="500"/>
              </a:spcAft>
              <a:buSzPct val="100000"/>
              <a:buChar char="•"/>
            </a:pPr>
            <a:r>
              <a:rPr lang="en-US" sz="1700" dirty="0">
                <a:solidFill>
                  <a:srgbClr val="1F2D33"/>
                </a:solidFill>
                <a:latin typeface="Calibri" pitchFamily="34" charset="0"/>
                <a:ea typeface="Calibri" pitchFamily="34" charset="-122"/>
                <a:cs typeface="Calibri" pitchFamily="34" charset="-120"/>
              </a:rPr>
              <a:t>A new measure must be added in three places: the single list of dimensions, the security rules and the tests.</a:t>
            </a:r>
            <a:endParaRPr lang="en-US" sz="1700" dirty="0"/>
          </a:p>
          <a:p>
            <a:pPr marL="342900" indent="-342900">
              <a:spcAft>
                <a:spcPts val="500"/>
              </a:spcAft>
              <a:buSzPct val="100000"/>
              <a:buChar char="•"/>
            </a:pPr>
            <a:r>
              <a:rPr lang="en-US" sz="1700" dirty="0">
                <a:solidFill>
                  <a:srgbClr val="1F2D33"/>
                </a:solidFill>
                <a:latin typeface="Calibri" pitchFamily="34" charset="0"/>
                <a:ea typeface="Calibri" pitchFamily="34" charset="-122"/>
                <a:cs typeface="Calibri" pitchFamily="34" charset="-120"/>
              </a:rPr>
              <a:t>The dimension list tells each measure which field it uses, so charts and forms never name a field.</a:t>
            </a:r>
            <a:endParaRPr lang="en-US" sz="1700" dirty="0"/>
          </a:p>
          <a:p>
            <a:pPr marL="342900" indent="-342900">
              <a:spcAft>
                <a:spcPts val="500"/>
              </a:spcAft>
              <a:buSzPct val="100000"/>
              <a:buChar char="•"/>
            </a:pPr>
            <a:r>
              <a:rPr lang="en-US" sz="1700" dirty="0">
                <a:solidFill>
                  <a:srgbClr val="1F2D33"/>
                </a:solidFill>
                <a:latin typeface="Calibri" pitchFamily="34" charset="0"/>
                <a:ea typeface="Calibri" pitchFamily="34" charset="-122"/>
                <a:cs typeface="Calibri" pitchFamily="34" charset="-120"/>
              </a:rPr>
              <a:t>A cleared value is deleted from the document; an absent value never becomes zero.</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08792" cy="82296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5. How a day is saved</a:t>
            </a:r>
            <a:endParaRPr lang="en-US" sz="3200" dirty="0"/>
          </a:p>
        </p:txBody>
      </p:sp>
      <p:sp>
        <p:nvSpPr>
          <p:cNvPr id="3" name="Text 1"/>
          <p:cNvSpPr/>
          <p:nvPr/>
        </p:nvSpPr>
        <p:spPr>
          <a:xfrm>
            <a:off x="640080" y="6446520"/>
            <a:ext cx="6400800" cy="27432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Weight4All · Solution Design</a:t>
            </a:r>
            <a:endParaRPr lang="en-US" sz="1000" dirty="0"/>
          </a:p>
        </p:txBody>
      </p:sp>
      <p:sp>
        <p:nvSpPr>
          <p:cNvPr id="4" name="Text 2"/>
          <p:cNvSpPr/>
          <p:nvPr/>
        </p:nvSpPr>
        <p:spPr>
          <a:xfrm>
            <a:off x="10634472" y="6446520"/>
            <a:ext cx="914400" cy="274320"/>
          </a:xfrm>
          <a:prstGeom prst="rect">
            <a:avLst/>
          </a:prstGeom>
          <a:noFill/>
          <a:ln/>
        </p:spPr>
        <p:txBody>
          <a:bodyPr wrap="square" lIns="0" tIns="0" rIns="0" bIns="0" rtlCol="0" anchor="ctr"/>
          <a:lstStyle/>
          <a:p>
            <a:pPr algn="r" indent="0" marL="0">
              <a:buNone/>
            </a:pPr>
            <a:r>
              <a:rPr lang="en-US" sz="1000" dirty="0">
                <a:solidFill>
                  <a:srgbClr val="5B6B72"/>
                </a:solidFill>
                <a:latin typeface="Calibri" pitchFamily="34" charset="0"/>
                <a:ea typeface="Calibri" pitchFamily="34" charset="-122"/>
                <a:cs typeface="Calibri" pitchFamily="34" charset="-120"/>
              </a:rPr>
              <a:t>8</a:t>
            </a:r>
            <a:endParaRPr lang="en-US" sz="1000" dirty="0"/>
          </a:p>
        </p:txBody>
      </p:sp>
      <p:sp>
        <p:nvSpPr>
          <p:cNvPr id="6" name="Shape 3"/>
          <p:cNvSpPr/>
          <p:nvPr/>
        </p:nvSpPr>
        <p:spPr>
          <a:xfrm>
            <a:off x="457200" y="1280160"/>
            <a:ext cx="1828800" cy="457200"/>
          </a:xfrm>
          <a:prstGeom prst="roundRect">
            <a:avLst>
              <a:gd name="adj" fmla="val 20000"/>
            </a:avLst>
          </a:prstGeom>
          <a:solidFill>
            <a:srgbClr val="0B3C49"/>
          </a:solidFill>
          <a:ln w="12700">
            <a:solidFill>
              <a:srgbClr val="0B3C49"/>
            </a:solidFill>
            <a:prstDash val="solid"/>
          </a:ln>
        </p:spPr>
      </p:sp>
      <p:sp>
        <p:nvSpPr>
          <p:cNvPr id="7" name="Text 4"/>
          <p:cNvSpPr/>
          <p:nvPr/>
        </p:nvSpPr>
        <p:spPr>
          <a:xfrm>
            <a:off x="512064" y="1280160"/>
            <a:ext cx="1719072"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Bob</a:t>
            </a:r>
            <a:endParaRPr lang="en-US" sz="1400" dirty="0"/>
          </a:p>
        </p:txBody>
      </p:sp>
      <p:sp>
        <p:nvSpPr>
          <p:cNvPr id="8" name="Shape 5"/>
          <p:cNvSpPr/>
          <p:nvPr/>
        </p:nvSpPr>
        <p:spPr>
          <a:xfrm>
            <a:off x="1371600" y="1737360"/>
            <a:ext cx="0" cy="4526280"/>
          </a:xfrm>
          <a:prstGeom prst="line">
            <a:avLst/>
          </a:prstGeom>
          <a:noFill/>
          <a:ln w="12700">
            <a:solidFill>
              <a:srgbClr val="9FC3C9"/>
            </a:solidFill>
            <a:prstDash val="dash"/>
          </a:ln>
        </p:spPr>
      </p:sp>
      <p:sp>
        <p:nvSpPr>
          <p:cNvPr id="9" name="Shape 6"/>
          <p:cNvSpPr/>
          <p:nvPr/>
        </p:nvSpPr>
        <p:spPr>
          <a:xfrm>
            <a:off x="3291840" y="1280160"/>
            <a:ext cx="1828800" cy="457200"/>
          </a:xfrm>
          <a:prstGeom prst="roundRect">
            <a:avLst>
              <a:gd name="adj" fmla="val 20000"/>
            </a:avLst>
          </a:prstGeom>
          <a:solidFill>
            <a:srgbClr val="028090"/>
          </a:solidFill>
          <a:ln w="12700">
            <a:solidFill>
              <a:srgbClr val="028090"/>
            </a:solidFill>
            <a:prstDash val="solid"/>
          </a:ln>
        </p:spPr>
      </p:sp>
      <p:sp>
        <p:nvSpPr>
          <p:cNvPr id="10" name="Text 7"/>
          <p:cNvSpPr/>
          <p:nvPr/>
        </p:nvSpPr>
        <p:spPr>
          <a:xfrm>
            <a:off x="3346704" y="1280160"/>
            <a:ext cx="1719072"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EntryForm</a:t>
            </a:r>
            <a:endParaRPr lang="en-US" sz="1400" dirty="0"/>
          </a:p>
        </p:txBody>
      </p:sp>
      <p:sp>
        <p:nvSpPr>
          <p:cNvPr id="11" name="Shape 8"/>
          <p:cNvSpPr/>
          <p:nvPr/>
        </p:nvSpPr>
        <p:spPr>
          <a:xfrm>
            <a:off x="4206240" y="1737360"/>
            <a:ext cx="0" cy="4526280"/>
          </a:xfrm>
          <a:prstGeom prst="line">
            <a:avLst/>
          </a:prstGeom>
          <a:noFill/>
          <a:ln w="12700">
            <a:solidFill>
              <a:srgbClr val="9FC3C9"/>
            </a:solidFill>
            <a:prstDash val="dash"/>
          </a:ln>
        </p:spPr>
      </p:sp>
      <p:sp>
        <p:nvSpPr>
          <p:cNvPr id="12" name="Shape 9"/>
          <p:cNvSpPr/>
          <p:nvPr/>
        </p:nvSpPr>
        <p:spPr>
          <a:xfrm>
            <a:off x="6126480" y="1280160"/>
            <a:ext cx="1828800" cy="457200"/>
          </a:xfrm>
          <a:prstGeom prst="roundRect">
            <a:avLst>
              <a:gd name="adj" fmla="val 20000"/>
            </a:avLst>
          </a:prstGeom>
          <a:solidFill>
            <a:srgbClr val="028090"/>
          </a:solidFill>
          <a:ln w="12700">
            <a:solidFill>
              <a:srgbClr val="028090"/>
            </a:solidFill>
            <a:prstDash val="solid"/>
          </a:ln>
        </p:spPr>
      </p:sp>
      <p:sp>
        <p:nvSpPr>
          <p:cNvPr id="13" name="Text 10"/>
          <p:cNvSpPr/>
          <p:nvPr/>
        </p:nvSpPr>
        <p:spPr>
          <a:xfrm>
            <a:off x="6181344" y="1280160"/>
            <a:ext cx="1719072"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EntryStore</a:t>
            </a:r>
            <a:endParaRPr lang="en-US" sz="1400" dirty="0"/>
          </a:p>
        </p:txBody>
      </p:sp>
      <p:sp>
        <p:nvSpPr>
          <p:cNvPr id="14" name="Shape 11"/>
          <p:cNvSpPr/>
          <p:nvPr/>
        </p:nvSpPr>
        <p:spPr>
          <a:xfrm>
            <a:off x="7040880" y="1737360"/>
            <a:ext cx="0" cy="4526280"/>
          </a:xfrm>
          <a:prstGeom prst="line">
            <a:avLst/>
          </a:prstGeom>
          <a:noFill/>
          <a:ln w="12700">
            <a:solidFill>
              <a:srgbClr val="9FC3C9"/>
            </a:solidFill>
            <a:prstDash val="dash"/>
          </a:ln>
        </p:spPr>
      </p:sp>
      <p:sp>
        <p:nvSpPr>
          <p:cNvPr id="15" name="Shape 12"/>
          <p:cNvSpPr/>
          <p:nvPr/>
        </p:nvSpPr>
        <p:spPr>
          <a:xfrm>
            <a:off x="8961120" y="1280160"/>
            <a:ext cx="1828800" cy="457200"/>
          </a:xfrm>
          <a:prstGeom prst="roundRect">
            <a:avLst>
              <a:gd name="adj" fmla="val 20000"/>
            </a:avLst>
          </a:prstGeom>
          <a:solidFill>
            <a:srgbClr val="028090"/>
          </a:solidFill>
          <a:ln w="12700">
            <a:solidFill>
              <a:srgbClr val="028090"/>
            </a:solidFill>
            <a:prstDash val="solid"/>
          </a:ln>
        </p:spPr>
      </p:sp>
      <p:sp>
        <p:nvSpPr>
          <p:cNvPr id="16" name="Text 13"/>
          <p:cNvSpPr/>
          <p:nvPr/>
        </p:nvSpPr>
        <p:spPr>
          <a:xfrm>
            <a:off x="9015984" y="1280160"/>
            <a:ext cx="1719072"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Firestore</a:t>
            </a:r>
            <a:endParaRPr lang="en-US" sz="1400" dirty="0"/>
          </a:p>
        </p:txBody>
      </p:sp>
      <p:sp>
        <p:nvSpPr>
          <p:cNvPr id="17" name="Shape 14"/>
          <p:cNvSpPr/>
          <p:nvPr/>
        </p:nvSpPr>
        <p:spPr>
          <a:xfrm>
            <a:off x="9875520" y="1737360"/>
            <a:ext cx="0" cy="4526280"/>
          </a:xfrm>
          <a:prstGeom prst="line">
            <a:avLst/>
          </a:prstGeom>
          <a:noFill/>
          <a:ln w="12700">
            <a:solidFill>
              <a:srgbClr val="9FC3C9"/>
            </a:solidFill>
            <a:prstDash val="dash"/>
          </a:ln>
        </p:spPr>
      </p:sp>
      <p:sp>
        <p:nvSpPr>
          <p:cNvPr id="18" name="Shape 15"/>
          <p:cNvSpPr/>
          <p:nvPr/>
        </p:nvSpPr>
        <p:spPr>
          <a:xfrm>
            <a:off x="1371600" y="2240280"/>
            <a:ext cx="2834640" cy="0"/>
          </a:xfrm>
          <a:prstGeom prst="line">
            <a:avLst/>
          </a:prstGeom>
          <a:noFill/>
          <a:ln w="19050">
            <a:solidFill>
              <a:srgbClr val="5B6B72"/>
            </a:solidFill>
            <a:prstDash val="solid"/>
            <a:tailEnd type="triangle"/>
          </a:ln>
        </p:spPr>
      </p:sp>
      <p:sp>
        <p:nvSpPr>
          <p:cNvPr id="19" name="Text 16"/>
          <p:cNvSpPr/>
          <p:nvPr/>
        </p:nvSpPr>
        <p:spPr>
          <a:xfrm>
            <a:off x="1463040" y="1929384"/>
            <a:ext cx="2651760" cy="292608"/>
          </a:xfrm>
          <a:prstGeom prst="rect">
            <a:avLst/>
          </a:prstGeom>
          <a:noFill/>
          <a:ln/>
        </p:spPr>
        <p:txBody>
          <a:bodyPr wrap="square" lIns="0" tIns="0" rIns="0" bIns="0" rtlCol="0" anchor="b"/>
          <a:lstStyle/>
          <a:p>
            <a:pPr algn="ctr" indent="0" marL="0">
              <a:buNone/>
            </a:pPr>
            <a:r>
              <a:rPr lang="en-US" sz="1100" dirty="0">
                <a:solidFill>
                  <a:srgbClr val="1F2D33"/>
                </a:solidFill>
                <a:latin typeface="Calibri" pitchFamily="34" charset="0"/>
                <a:ea typeface="Calibri" pitchFamily="34" charset="-122"/>
                <a:cs typeface="Calibri" pitchFamily="34" charset="-120"/>
              </a:rPr>
              <a:t>opens Today (last weight, sleep 6.0 h)</a:t>
            </a:r>
            <a:endParaRPr lang="en-US" sz="1100" dirty="0"/>
          </a:p>
        </p:txBody>
      </p:sp>
      <p:sp>
        <p:nvSpPr>
          <p:cNvPr id="20" name="Shape 17"/>
          <p:cNvSpPr/>
          <p:nvPr/>
        </p:nvSpPr>
        <p:spPr>
          <a:xfrm>
            <a:off x="1371600" y="2697480"/>
            <a:ext cx="2834640" cy="0"/>
          </a:xfrm>
          <a:prstGeom prst="line">
            <a:avLst/>
          </a:prstGeom>
          <a:noFill/>
          <a:ln w="19050">
            <a:solidFill>
              <a:srgbClr val="5B6B72"/>
            </a:solidFill>
            <a:prstDash val="solid"/>
            <a:tailEnd type="triangle"/>
          </a:ln>
        </p:spPr>
      </p:sp>
      <p:sp>
        <p:nvSpPr>
          <p:cNvPr id="21" name="Text 18"/>
          <p:cNvSpPr/>
          <p:nvPr/>
        </p:nvSpPr>
        <p:spPr>
          <a:xfrm>
            <a:off x="1463040" y="2386584"/>
            <a:ext cx="2651760" cy="292608"/>
          </a:xfrm>
          <a:prstGeom prst="rect">
            <a:avLst/>
          </a:prstGeom>
          <a:noFill/>
          <a:ln/>
        </p:spPr>
        <p:txBody>
          <a:bodyPr wrap="square" lIns="0" tIns="0" rIns="0" bIns="0" rtlCol="0" anchor="b"/>
          <a:lstStyle/>
          <a:p>
            <a:pPr algn="ctr" indent="0" marL="0">
              <a:buNone/>
            </a:pPr>
            <a:r>
              <a:rPr lang="en-US" sz="1100" dirty="0">
                <a:solidFill>
                  <a:srgbClr val="1F2D33"/>
                </a:solidFill>
                <a:latin typeface="Calibri" pitchFamily="34" charset="0"/>
                <a:ea typeface="Calibri" pitchFamily="34" charset="-122"/>
                <a:cs typeface="Calibri" pitchFamily="34" charset="-120"/>
              </a:rPr>
              <a:t>adjusts, taps a face, presses Save</a:t>
            </a:r>
            <a:endParaRPr lang="en-US" sz="1100" dirty="0"/>
          </a:p>
        </p:txBody>
      </p:sp>
      <p:sp>
        <p:nvSpPr>
          <p:cNvPr id="22" name="Shape 19"/>
          <p:cNvSpPr/>
          <p:nvPr/>
        </p:nvSpPr>
        <p:spPr>
          <a:xfrm>
            <a:off x="4206240" y="3108960"/>
            <a:ext cx="2834640" cy="0"/>
          </a:xfrm>
          <a:prstGeom prst="line">
            <a:avLst/>
          </a:prstGeom>
          <a:noFill/>
          <a:ln w="19050">
            <a:solidFill>
              <a:srgbClr val="5B6B72"/>
            </a:solidFill>
            <a:prstDash val="solid"/>
            <a:tailEnd type="triangle"/>
          </a:ln>
        </p:spPr>
      </p:sp>
      <p:sp>
        <p:nvSpPr>
          <p:cNvPr id="23" name="Text 20"/>
          <p:cNvSpPr/>
          <p:nvPr/>
        </p:nvSpPr>
        <p:spPr>
          <a:xfrm>
            <a:off x="4297680" y="2798064"/>
            <a:ext cx="2651760" cy="292608"/>
          </a:xfrm>
          <a:prstGeom prst="rect">
            <a:avLst/>
          </a:prstGeom>
          <a:noFill/>
          <a:ln/>
        </p:spPr>
        <p:txBody>
          <a:bodyPr wrap="square" lIns="0" tIns="0" rIns="0" bIns="0" rtlCol="0" anchor="b"/>
          <a:lstStyle/>
          <a:p>
            <a:pPr algn="ctr" indent="0" marL="0">
              <a:buNone/>
            </a:pPr>
            <a:r>
              <a:rPr lang="en-US" sz="1100" dirty="0">
                <a:solidFill>
                  <a:srgbClr val="1F2D33"/>
                </a:solidFill>
                <a:latin typeface="Calibri" pitchFamily="34" charset="0"/>
                <a:ea typeface="Calibri" pitchFamily="34" charset="-122"/>
                <a:cs typeface="Calibri" pitchFamily="34" charset="-120"/>
              </a:rPr>
              <a:t>save(day, values)</a:t>
            </a:r>
            <a:endParaRPr lang="en-US" sz="1100" dirty="0"/>
          </a:p>
        </p:txBody>
      </p:sp>
      <p:sp>
        <p:nvSpPr>
          <p:cNvPr id="24" name="Shape 21"/>
          <p:cNvSpPr/>
          <p:nvPr/>
        </p:nvSpPr>
        <p:spPr>
          <a:xfrm>
            <a:off x="7040880" y="3520440"/>
            <a:ext cx="2834640" cy="0"/>
          </a:xfrm>
          <a:prstGeom prst="line">
            <a:avLst/>
          </a:prstGeom>
          <a:noFill/>
          <a:ln w="19050">
            <a:solidFill>
              <a:srgbClr val="5B6B72"/>
            </a:solidFill>
            <a:prstDash val="solid"/>
            <a:tailEnd type="triangle"/>
          </a:ln>
        </p:spPr>
      </p:sp>
      <p:sp>
        <p:nvSpPr>
          <p:cNvPr id="25" name="Text 22"/>
          <p:cNvSpPr/>
          <p:nvPr/>
        </p:nvSpPr>
        <p:spPr>
          <a:xfrm>
            <a:off x="7132320" y="3209544"/>
            <a:ext cx="2651760" cy="292608"/>
          </a:xfrm>
          <a:prstGeom prst="rect">
            <a:avLst/>
          </a:prstGeom>
          <a:noFill/>
          <a:ln/>
        </p:spPr>
        <p:txBody>
          <a:bodyPr wrap="square" lIns="0" tIns="0" rIns="0" bIns="0" rtlCol="0" anchor="b"/>
          <a:lstStyle/>
          <a:p>
            <a:pPr algn="ctr" indent="0" marL="0">
              <a:buNone/>
            </a:pPr>
            <a:r>
              <a:rPr lang="en-US" sz="1100" dirty="0">
                <a:solidFill>
                  <a:srgbClr val="1F2D33"/>
                </a:solidFill>
                <a:latin typeface="Calibri" pitchFamily="34" charset="0"/>
                <a:ea typeface="Calibri" pitchFamily="34" charset="-122"/>
                <a:cs typeface="Calibri" pitchFamily="34" charset="-120"/>
              </a:rPr>
              <a:t>replaces the document (max 10 s)</a:t>
            </a:r>
            <a:endParaRPr lang="en-US" sz="1100" dirty="0"/>
          </a:p>
        </p:txBody>
      </p:sp>
      <p:sp>
        <p:nvSpPr>
          <p:cNvPr id="26" name="Shape 23"/>
          <p:cNvSpPr/>
          <p:nvPr/>
        </p:nvSpPr>
        <p:spPr>
          <a:xfrm>
            <a:off x="640080" y="3749040"/>
            <a:ext cx="10881360" cy="2514600"/>
          </a:xfrm>
          <a:prstGeom prst="rect">
            <a:avLst/>
          </a:prstGeom>
          <a:solidFill>
            <a:srgbClr val="FFFFFF">
              <a:alpha val="0"/>
            </a:srgbClr>
          </a:solidFill>
          <a:ln w="12700">
            <a:solidFill>
              <a:srgbClr val="5B6B72"/>
            </a:solidFill>
            <a:prstDash val="solid"/>
          </a:ln>
        </p:spPr>
      </p:sp>
      <p:sp>
        <p:nvSpPr>
          <p:cNvPr id="27" name="Text 24"/>
          <p:cNvSpPr/>
          <p:nvPr/>
        </p:nvSpPr>
        <p:spPr>
          <a:xfrm>
            <a:off x="713232" y="3767328"/>
            <a:ext cx="1371600" cy="256032"/>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if confirmed</a:t>
            </a:r>
            <a:endParaRPr lang="en-US" sz="1100" dirty="0"/>
          </a:p>
        </p:txBody>
      </p:sp>
      <p:sp>
        <p:nvSpPr>
          <p:cNvPr id="28" name="Shape 25"/>
          <p:cNvSpPr/>
          <p:nvPr/>
        </p:nvSpPr>
        <p:spPr>
          <a:xfrm flipH="1">
            <a:off x="7040880" y="4297680"/>
            <a:ext cx="2834640" cy="0"/>
          </a:xfrm>
          <a:prstGeom prst="line">
            <a:avLst/>
          </a:prstGeom>
          <a:noFill/>
          <a:ln w="19050">
            <a:solidFill>
              <a:srgbClr val="5B6B72"/>
            </a:solidFill>
            <a:prstDash val="solid"/>
            <a:tailEnd type="triangle"/>
          </a:ln>
        </p:spPr>
      </p:sp>
      <p:sp>
        <p:nvSpPr>
          <p:cNvPr id="29" name="Text 26"/>
          <p:cNvSpPr/>
          <p:nvPr/>
        </p:nvSpPr>
        <p:spPr>
          <a:xfrm>
            <a:off x="7132320" y="3986784"/>
            <a:ext cx="2651760" cy="292608"/>
          </a:xfrm>
          <a:prstGeom prst="rect">
            <a:avLst/>
          </a:prstGeom>
          <a:noFill/>
          <a:ln/>
        </p:spPr>
        <p:txBody>
          <a:bodyPr wrap="square" lIns="0" tIns="0" rIns="0" bIns="0" rtlCol="0" anchor="b"/>
          <a:lstStyle/>
          <a:p>
            <a:pPr algn="ctr" indent="0" marL="0">
              <a:buNone/>
            </a:pPr>
            <a:r>
              <a:rPr lang="en-US" sz="1100" dirty="0">
                <a:solidFill>
                  <a:srgbClr val="1F2D33"/>
                </a:solidFill>
                <a:latin typeface="Calibri" pitchFamily="34" charset="0"/>
                <a:ea typeface="Calibri" pitchFamily="34" charset="-122"/>
                <a:cs typeface="Calibri" pitchFamily="34" charset="-120"/>
              </a:rPr>
              <a:t>ok</a:t>
            </a:r>
            <a:endParaRPr lang="en-US" sz="1100" dirty="0"/>
          </a:p>
        </p:txBody>
      </p:sp>
      <p:sp>
        <p:nvSpPr>
          <p:cNvPr id="30" name="Shape 27"/>
          <p:cNvSpPr/>
          <p:nvPr/>
        </p:nvSpPr>
        <p:spPr>
          <a:xfrm flipH="1">
            <a:off x="4206240" y="4663440"/>
            <a:ext cx="2834640" cy="0"/>
          </a:xfrm>
          <a:prstGeom prst="line">
            <a:avLst/>
          </a:prstGeom>
          <a:noFill/>
          <a:ln w="19050">
            <a:solidFill>
              <a:srgbClr val="5B6B72"/>
            </a:solidFill>
            <a:prstDash val="solid"/>
            <a:tailEnd type="triangle"/>
          </a:ln>
        </p:spPr>
      </p:sp>
      <p:sp>
        <p:nvSpPr>
          <p:cNvPr id="31" name="Text 28"/>
          <p:cNvSpPr/>
          <p:nvPr/>
        </p:nvSpPr>
        <p:spPr>
          <a:xfrm>
            <a:off x="4297680" y="4352544"/>
            <a:ext cx="2651760" cy="292608"/>
          </a:xfrm>
          <a:prstGeom prst="rect">
            <a:avLst/>
          </a:prstGeom>
          <a:noFill/>
          <a:ln/>
        </p:spPr>
        <p:txBody>
          <a:bodyPr wrap="square" lIns="0" tIns="0" rIns="0" bIns="0" rtlCol="0" anchor="b"/>
          <a:lstStyle/>
          <a:p>
            <a:pPr algn="ctr" indent="0" marL="0">
              <a:buNone/>
            </a:pPr>
            <a:r>
              <a:rPr lang="en-US" sz="1100" dirty="0">
                <a:solidFill>
                  <a:srgbClr val="1F2D33"/>
                </a:solidFill>
                <a:latin typeface="Calibri" pitchFamily="34" charset="0"/>
                <a:ea typeface="Calibri" pitchFamily="34" charset="-122"/>
                <a:cs typeface="Calibri" pitchFamily="34" charset="-120"/>
              </a:rPr>
              <a:t>ok, updates the in-memory days</a:t>
            </a:r>
            <a:endParaRPr lang="en-US" sz="1100" dirty="0"/>
          </a:p>
        </p:txBody>
      </p:sp>
      <p:sp>
        <p:nvSpPr>
          <p:cNvPr id="32" name="Shape 29"/>
          <p:cNvSpPr/>
          <p:nvPr/>
        </p:nvSpPr>
        <p:spPr>
          <a:xfrm flipH="1">
            <a:off x="1371600" y="5029200"/>
            <a:ext cx="2834640" cy="0"/>
          </a:xfrm>
          <a:prstGeom prst="line">
            <a:avLst/>
          </a:prstGeom>
          <a:noFill/>
          <a:ln w="19050">
            <a:solidFill>
              <a:srgbClr val="5B6B72"/>
            </a:solidFill>
            <a:prstDash val="solid"/>
            <a:tailEnd type="triangle"/>
          </a:ln>
        </p:spPr>
      </p:sp>
      <p:sp>
        <p:nvSpPr>
          <p:cNvPr id="33" name="Text 30"/>
          <p:cNvSpPr/>
          <p:nvPr/>
        </p:nvSpPr>
        <p:spPr>
          <a:xfrm>
            <a:off x="1463040" y="4718304"/>
            <a:ext cx="2651760" cy="292608"/>
          </a:xfrm>
          <a:prstGeom prst="rect">
            <a:avLst/>
          </a:prstGeom>
          <a:noFill/>
          <a:ln/>
        </p:spPr>
        <p:txBody>
          <a:bodyPr wrap="square" lIns="0" tIns="0" rIns="0" bIns="0" rtlCol="0" anchor="b"/>
          <a:lstStyle/>
          <a:p>
            <a:pPr algn="ctr" indent="0" marL="0">
              <a:buNone/>
            </a:pPr>
            <a:r>
              <a:rPr lang="en-US" sz="1100" dirty="0">
                <a:solidFill>
                  <a:srgbClr val="1F2D33"/>
                </a:solidFill>
                <a:latin typeface="Calibri" pitchFamily="34" charset="0"/>
                <a:ea typeface="Calibri" pitchFamily="34" charset="-122"/>
                <a:cs typeface="Calibri" pitchFamily="34" charset="-120"/>
              </a:rPr>
              <a:t>Happy effect; the missing-day sign goes away</a:t>
            </a:r>
            <a:endParaRPr lang="en-US" sz="1100" dirty="0"/>
          </a:p>
        </p:txBody>
      </p:sp>
      <p:sp>
        <p:nvSpPr>
          <p:cNvPr id="34" name="Shape 31"/>
          <p:cNvSpPr/>
          <p:nvPr/>
        </p:nvSpPr>
        <p:spPr>
          <a:xfrm>
            <a:off x="640080" y="5257800"/>
            <a:ext cx="10881360" cy="0"/>
          </a:xfrm>
          <a:prstGeom prst="line">
            <a:avLst/>
          </a:prstGeom>
          <a:noFill/>
          <a:ln w="12700">
            <a:solidFill>
              <a:srgbClr val="5B6B72"/>
            </a:solidFill>
            <a:prstDash val="dash"/>
          </a:ln>
        </p:spPr>
      </p:sp>
      <p:sp>
        <p:nvSpPr>
          <p:cNvPr id="35" name="Text 32"/>
          <p:cNvSpPr/>
          <p:nvPr/>
        </p:nvSpPr>
        <p:spPr>
          <a:xfrm>
            <a:off x="713232" y="5276088"/>
            <a:ext cx="1828800" cy="256032"/>
          </a:xfrm>
          <a:prstGeom prst="rect">
            <a:avLst/>
          </a:prstGeom>
          <a:noFill/>
          <a:ln/>
        </p:spPr>
        <p:txBody>
          <a:bodyPr wrap="square" lIns="0" tIns="0" rIns="0" bIns="0" rtlCol="0" anchor="ctr"/>
          <a:lstStyle/>
          <a:p>
            <a:pPr indent="0" marL="0">
              <a:buNone/>
            </a:pPr>
            <a:r>
              <a:rPr lang="en-US" sz="1100" b="1" dirty="0">
                <a:solidFill>
                  <a:srgbClr val="F96167"/>
                </a:solidFill>
                <a:latin typeface="Calibri" pitchFamily="34" charset="0"/>
                <a:ea typeface="Calibri" pitchFamily="34" charset="-122"/>
                <a:cs typeface="Calibri" pitchFamily="34" charset="-120"/>
              </a:rPr>
              <a:t>if error or timeout</a:t>
            </a:r>
            <a:endParaRPr lang="en-US" sz="1100" dirty="0"/>
          </a:p>
        </p:txBody>
      </p:sp>
      <p:sp>
        <p:nvSpPr>
          <p:cNvPr id="36" name="Shape 33"/>
          <p:cNvSpPr/>
          <p:nvPr/>
        </p:nvSpPr>
        <p:spPr>
          <a:xfrm flipH="1">
            <a:off x="4206240" y="5760720"/>
            <a:ext cx="2834640" cy="0"/>
          </a:xfrm>
          <a:prstGeom prst="line">
            <a:avLst/>
          </a:prstGeom>
          <a:noFill/>
          <a:ln w="19050">
            <a:solidFill>
              <a:srgbClr val="5B6B72"/>
            </a:solidFill>
            <a:prstDash val="solid"/>
            <a:tailEnd type="triangle"/>
          </a:ln>
        </p:spPr>
      </p:sp>
      <p:sp>
        <p:nvSpPr>
          <p:cNvPr id="37" name="Text 34"/>
          <p:cNvSpPr/>
          <p:nvPr/>
        </p:nvSpPr>
        <p:spPr>
          <a:xfrm>
            <a:off x="4297680" y="5449824"/>
            <a:ext cx="2651760" cy="292608"/>
          </a:xfrm>
          <a:prstGeom prst="rect">
            <a:avLst/>
          </a:prstGeom>
          <a:noFill/>
          <a:ln/>
        </p:spPr>
        <p:txBody>
          <a:bodyPr wrap="square" lIns="0" tIns="0" rIns="0" bIns="0" rtlCol="0" anchor="b"/>
          <a:lstStyle/>
          <a:p>
            <a:pPr algn="ctr" indent="0" marL="0">
              <a:buNone/>
            </a:pPr>
            <a:r>
              <a:rPr lang="en-US" sz="1100" dirty="0">
                <a:solidFill>
                  <a:srgbClr val="1F2D33"/>
                </a:solidFill>
                <a:latin typeface="Calibri" pitchFamily="34" charset="0"/>
                <a:ea typeface="Calibri" pitchFamily="34" charset="-122"/>
                <a:cs typeface="Calibri" pitchFamily="34" charset="-120"/>
              </a:rPr>
              <a:t>error (network / timeout / permission)</a:t>
            </a:r>
            <a:endParaRPr lang="en-US" sz="1100" dirty="0"/>
          </a:p>
        </p:txBody>
      </p:sp>
      <p:sp>
        <p:nvSpPr>
          <p:cNvPr id="38" name="Shape 35"/>
          <p:cNvSpPr/>
          <p:nvPr/>
        </p:nvSpPr>
        <p:spPr>
          <a:xfrm flipH="1">
            <a:off x="1371600" y="6126480"/>
            <a:ext cx="2834640" cy="0"/>
          </a:xfrm>
          <a:prstGeom prst="line">
            <a:avLst/>
          </a:prstGeom>
          <a:noFill/>
          <a:ln w="19050">
            <a:solidFill>
              <a:srgbClr val="5B6B72"/>
            </a:solidFill>
            <a:prstDash val="solid"/>
            <a:tailEnd type="triangle"/>
          </a:ln>
        </p:spPr>
      </p:sp>
      <p:sp>
        <p:nvSpPr>
          <p:cNvPr id="39" name="Text 36"/>
          <p:cNvSpPr/>
          <p:nvPr/>
        </p:nvSpPr>
        <p:spPr>
          <a:xfrm>
            <a:off x="1463040" y="5815584"/>
            <a:ext cx="2651760" cy="292608"/>
          </a:xfrm>
          <a:prstGeom prst="rect">
            <a:avLst/>
          </a:prstGeom>
          <a:noFill/>
          <a:ln/>
        </p:spPr>
        <p:txBody>
          <a:bodyPr wrap="square" lIns="0" tIns="0" rIns="0" bIns="0" rtlCol="0" anchor="b"/>
          <a:lstStyle/>
          <a:p>
            <a:pPr algn="ctr" indent="0" marL="0">
              <a:buNone/>
            </a:pPr>
            <a:r>
              <a:rPr lang="en-US" sz="1100" dirty="0">
                <a:solidFill>
                  <a:srgbClr val="1F2D33"/>
                </a:solidFill>
                <a:latin typeface="Calibri" pitchFamily="34" charset="0"/>
                <a:ea typeface="Calibri" pitchFamily="34" charset="-122"/>
                <a:cs typeface="Calibri" pitchFamily="34" charset="-120"/>
              </a:rPr>
              <a:t>message; the typed values stay in the form</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08792" cy="82296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5. How a day is saved: the guarantees</a:t>
            </a:r>
            <a:endParaRPr lang="en-US" sz="3200" dirty="0"/>
          </a:p>
        </p:txBody>
      </p:sp>
      <p:sp>
        <p:nvSpPr>
          <p:cNvPr id="3" name="Text 1"/>
          <p:cNvSpPr/>
          <p:nvPr/>
        </p:nvSpPr>
        <p:spPr>
          <a:xfrm>
            <a:off x="640080" y="6446520"/>
            <a:ext cx="6400800" cy="27432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Weight4All · Solution Design</a:t>
            </a:r>
            <a:endParaRPr lang="en-US" sz="1000" dirty="0"/>
          </a:p>
        </p:txBody>
      </p:sp>
      <p:sp>
        <p:nvSpPr>
          <p:cNvPr id="4" name="Text 2"/>
          <p:cNvSpPr/>
          <p:nvPr/>
        </p:nvSpPr>
        <p:spPr>
          <a:xfrm>
            <a:off x="10634472" y="6446520"/>
            <a:ext cx="914400" cy="274320"/>
          </a:xfrm>
          <a:prstGeom prst="rect">
            <a:avLst/>
          </a:prstGeom>
          <a:noFill/>
          <a:ln/>
        </p:spPr>
        <p:txBody>
          <a:bodyPr wrap="square" lIns="0" tIns="0" rIns="0" bIns="0" rtlCol="0" anchor="ctr"/>
          <a:lstStyle/>
          <a:p>
            <a:pPr algn="r" indent="0" marL="0">
              <a:buNone/>
            </a:pPr>
            <a:r>
              <a:rPr lang="en-US" sz="1000" dirty="0">
                <a:solidFill>
                  <a:srgbClr val="5B6B72"/>
                </a:solidFill>
                <a:latin typeface="Calibri" pitchFamily="34" charset="0"/>
                <a:ea typeface="Calibri" pitchFamily="34" charset="-122"/>
                <a:cs typeface="Calibri" pitchFamily="34" charset="-120"/>
              </a:rPr>
              <a:t>9</a:t>
            </a:r>
            <a:endParaRPr lang="en-US" sz="1000" dirty="0"/>
          </a:p>
        </p:txBody>
      </p:sp>
      <p:sp>
        <p:nvSpPr>
          <p:cNvPr id="6" name="Shape 3"/>
          <p:cNvSpPr/>
          <p:nvPr/>
        </p:nvSpPr>
        <p:spPr>
          <a:xfrm>
            <a:off x="640080" y="1371600"/>
            <a:ext cx="3566160" cy="3566160"/>
          </a:xfrm>
          <a:prstGeom prst="roundRect">
            <a:avLst>
              <a:gd name="adj" fmla="val 3077"/>
            </a:avLst>
          </a:prstGeom>
          <a:solidFill>
            <a:srgbClr val="F4F8F9"/>
          </a:solidFill>
          <a:ln w="12700">
            <a:solidFill>
              <a:srgbClr val="D5E5E8"/>
            </a:solidFill>
            <a:prstDash val="solid"/>
          </a:ln>
        </p:spPr>
      </p:sp>
      <p:sp>
        <p:nvSpPr>
          <p:cNvPr id="7" name="Text 4"/>
          <p:cNvSpPr/>
          <p:nvPr/>
        </p:nvSpPr>
        <p:spPr>
          <a:xfrm>
            <a:off x="822960" y="1481328"/>
            <a:ext cx="3200400" cy="411480"/>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Load once</a:t>
            </a:r>
            <a:endParaRPr lang="en-US" sz="1600" dirty="0"/>
          </a:p>
        </p:txBody>
      </p:sp>
      <p:sp>
        <p:nvSpPr>
          <p:cNvPr id="8" name="Text 5"/>
          <p:cNvSpPr/>
          <p:nvPr/>
        </p:nvSpPr>
        <p:spPr>
          <a:xfrm>
            <a:off x="822960" y="1938528"/>
            <a:ext cx="3200400" cy="2907792"/>
          </a:xfrm>
          <a:prstGeom prst="rect">
            <a:avLst/>
          </a:prstGeom>
          <a:noFill/>
          <a:ln/>
        </p:spPr>
        <p:txBody>
          <a:bodyPr wrap="square" lIns="0" tIns="0" rIns="0" bIns="0" rtlCol="0" anchor="t"/>
          <a:lstStyle/>
          <a:p>
            <a:pPr indent="0" marL="0">
              <a:spcAft>
                <a:spcPts val="500"/>
              </a:spcAft>
              <a:buNone/>
            </a:pPr>
            <a:r>
              <a:rPr lang="en-US" sz="1700" dirty="0">
                <a:solidFill>
                  <a:srgbClr val="1F2D33"/>
                </a:solidFill>
                <a:latin typeface="Calibri" pitchFamily="34" charset="0"/>
                <a:ea typeface="Calibri" pitchFamily="34" charset="-122"/>
                <a:cs typeface="Calibri" pitchFamily="34" charset="-120"/>
              </a:rPr>
              <a:t>After login, EntryStore reads all of the user's days in one ordered read and keeps them in memory. History, Report, 'This week' and the missing-day sign are computed from there, so changing the range is instant.</a:t>
            </a:r>
            <a:endParaRPr lang="en-US" sz="1700" dirty="0"/>
          </a:p>
        </p:txBody>
      </p:sp>
      <p:sp>
        <p:nvSpPr>
          <p:cNvPr id="9" name="Shape 6"/>
          <p:cNvSpPr/>
          <p:nvPr/>
        </p:nvSpPr>
        <p:spPr>
          <a:xfrm>
            <a:off x="4434840" y="1371600"/>
            <a:ext cx="3566160" cy="3566160"/>
          </a:xfrm>
          <a:prstGeom prst="roundRect">
            <a:avLst>
              <a:gd name="adj" fmla="val 3077"/>
            </a:avLst>
          </a:prstGeom>
          <a:solidFill>
            <a:srgbClr val="F4F8F9"/>
          </a:solidFill>
          <a:ln w="12700">
            <a:solidFill>
              <a:srgbClr val="D5E5E8"/>
            </a:solidFill>
            <a:prstDash val="solid"/>
          </a:ln>
        </p:spPr>
      </p:sp>
      <p:sp>
        <p:nvSpPr>
          <p:cNvPr id="10" name="Text 7"/>
          <p:cNvSpPr/>
          <p:nvPr/>
        </p:nvSpPr>
        <p:spPr>
          <a:xfrm>
            <a:off x="4617720" y="1481328"/>
            <a:ext cx="3200400" cy="411480"/>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Confirm before showing</a:t>
            </a:r>
            <a:endParaRPr lang="en-US" sz="1600" dirty="0"/>
          </a:p>
        </p:txBody>
      </p:sp>
      <p:sp>
        <p:nvSpPr>
          <p:cNvPr id="11" name="Text 8"/>
          <p:cNvSpPr/>
          <p:nvPr/>
        </p:nvSpPr>
        <p:spPr>
          <a:xfrm>
            <a:off x="4617720" y="1938528"/>
            <a:ext cx="3200400" cy="2907792"/>
          </a:xfrm>
          <a:prstGeom prst="rect">
            <a:avLst/>
          </a:prstGeom>
          <a:noFill/>
          <a:ln/>
        </p:spPr>
        <p:txBody>
          <a:bodyPr wrap="square" lIns="0" tIns="0" rIns="0" bIns="0" rtlCol="0" anchor="t"/>
          <a:lstStyle/>
          <a:p>
            <a:pPr indent="0" marL="0">
              <a:spcAft>
                <a:spcPts val="500"/>
              </a:spcAft>
              <a:buNone/>
            </a:pPr>
            <a:r>
              <a:rPr lang="en-US" sz="1700" dirty="0">
                <a:solidFill>
                  <a:srgbClr val="1F2D33"/>
                </a:solidFill>
                <a:latin typeface="Calibri" pitchFamily="34" charset="0"/>
                <a:ea typeface="Calibri" pitchFamily="34" charset="-122"/>
                <a:cs typeface="Calibri" pitchFamily="34" charset="-120"/>
              </a:rPr>
              <a:t>A day appears as saved only after the server confirms it. During the write the form shows 'saving'. If it fails, the typed values stay and an error is shown.</a:t>
            </a:r>
            <a:endParaRPr lang="en-US" sz="1700" dirty="0"/>
          </a:p>
        </p:txBody>
      </p:sp>
      <p:sp>
        <p:nvSpPr>
          <p:cNvPr id="12" name="Shape 9"/>
          <p:cNvSpPr/>
          <p:nvPr/>
        </p:nvSpPr>
        <p:spPr>
          <a:xfrm>
            <a:off x="8229600" y="1371600"/>
            <a:ext cx="3337560" cy="3566160"/>
          </a:xfrm>
          <a:prstGeom prst="roundRect">
            <a:avLst>
              <a:gd name="adj" fmla="val 3288"/>
            </a:avLst>
          </a:prstGeom>
          <a:solidFill>
            <a:srgbClr val="F4F8F9"/>
          </a:solidFill>
          <a:ln w="12700">
            <a:solidFill>
              <a:srgbClr val="D5E5E8"/>
            </a:solidFill>
            <a:prstDash val="solid"/>
          </a:ln>
        </p:spPr>
      </p:sp>
      <p:sp>
        <p:nvSpPr>
          <p:cNvPr id="13" name="Text 10"/>
          <p:cNvSpPr/>
          <p:nvPr/>
        </p:nvSpPr>
        <p:spPr>
          <a:xfrm>
            <a:off x="8412480" y="1481328"/>
            <a:ext cx="2971800" cy="411480"/>
          </a:xfrm>
          <a:prstGeom prst="rect">
            <a:avLst/>
          </a:prstGeom>
          <a:noFill/>
          <a:ln/>
        </p:spPr>
        <p:txBody>
          <a:bodyPr wrap="square" lIns="0" tIns="0" rIns="0" bIns="0" rtlCol="0" anchor="ctr"/>
          <a:lstStyle/>
          <a:p>
            <a:pPr indent="0" marL="0">
              <a:buNone/>
            </a:pPr>
            <a:r>
              <a:rPr lang="en-US" sz="1600" b="1" dirty="0">
                <a:solidFill>
                  <a:srgbClr val="F96167"/>
                </a:solidFill>
                <a:latin typeface="Cambria" pitchFamily="34" charset="0"/>
                <a:ea typeface="Cambria" pitchFamily="34" charset="-122"/>
                <a:cs typeface="Cambria" pitchFamily="34" charset="-120"/>
              </a:rPr>
              <a:t>Safe to retry</a:t>
            </a:r>
            <a:endParaRPr lang="en-US" sz="1600" dirty="0"/>
          </a:p>
        </p:txBody>
      </p:sp>
      <p:sp>
        <p:nvSpPr>
          <p:cNvPr id="14" name="Text 11"/>
          <p:cNvSpPr/>
          <p:nvPr/>
        </p:nvSpPr>
        <p:spPr>
          <a:xfrm>
            <a:off x="8412480" y="1938528"/>
            <a:ext cx="2971800" cy="2907792"/>
          </a:xfrm>
          <a:prstGeom prst="rect">
            <a:avLst/>
          </a:prstGeom>
          <a:noFill/>
          <a:ln/>
        </p:spPr>
        <p:txBody>
          <a:bodyPr wrap="square" lIns="0" tIns="0" rIns="0" bIns="0" rtlCol="0" anchor="t"/>
          <a:lstStyle/>
          <a:p>
            <a:pPr indent="0" marL="0">
              <a:spcAft>
                <a:spcPts val="500"/>
              </a:spcAft>
              <a:buNone/>
            </a:pPr>
            <a:r>
              <a:rPr lang="en-US" sz="1700" dirty="0">
                <a:solidFill>
                  <a:srgbClr val="1F2D33"/>
                </a:solidFill>
                <a:latin typeface="Calibri" pitchFamily="34" charset="0"/>
                <a:ea typeface="Calibri" pitchFamily="34" charset="-122"/>
                <a:cs typeface="Calibri" pitchFamily="34" charset="-120"/>
              </a:rPr>
              <a:t>Every write has a 10-second timeout, because Firestore otherwise waits forever offline. Saving replaces the document by its name, so retrying is safe. Two devices: last write wins.</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08792" cy="82296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6. The Report and the dashed line</a:t>
            </a:r>
            <a:endParaRPr lang="en-US" sz="3200" dirty="0"/>
          </a:p>
        </p:txBody>
      </p:sp>
      <p:sp>
        <p:nvSpPr>
          <p:cNvPr id="3" name="Text 1"/>
          <p:cNvSpPr/>
          <p:nvPr/>
        </p:nvSpPr>
        <p:spPr>
          <a:xfrm>
            <a:off x="640080" y="6446520"/>
            <a:ext cx="6400800" cy="27432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Weight4All · Solution Design</a:t>
            </a:r>
            <a:endParaRPr lang="en-US" sz="1000" dirty="0"/>
          </a:p>
        </p:txBody>
      </p:sp>
      <p:sp>
        <p:nvSpPr>
          <p:cNvPr id="4" name="Text 2"/>
          <p:cNvSpPr/>
          <p:nvPr/>
        </p:nvSpPr>
        <p:spPr>
          <a:xfrm>
            <a:off x="10634472" y="6446520"/>
            <a:ext cx="914400" cy="274320"/>
          </a:xfrm>
          <a:prstGeom prst="rect">
            <a:avLst/>
          </a:prstGeom>
          <a:noFill/>
          <a:ln/>
        </p:spPr>
        <p:txBody>
          <a:bodyPr wrap="square" lIns="0" tIns="0" rIns="0" bIns="0" rtlCol="0" anchor="ctr"/>
          <a:lstStyle/>
          <a:p>
            <a:pPr algn="r" indent="0" marL="0">
              <a:buNone/>
            </a:pPr>
            <a:r>
              <a:rPr lang="en-US" sz="1000" dirty="0">
                <a:solidFill>
                  <a:srgbClr val="5B6B72"/>
                </a:solidFill>
                <a:latin typeface="Calibri" pitchFamily="34" charset="0"/>
                <a:ea typeface="Calibri" pitchFamily="34" charset="-122"/>
                <a:cs typeface="Calibri" pitchFamily="34" charset="-120"/>
              </a:rPr>
              <a:t>10</a:t>
            </a:r>
            <a:endParaRPr lang="en-US" sz="1000" dirty="0"/>
          </a:p>
        </p:txBody>
      </p:sp>
      <p:sp>
        <p:nvSpPr>
          <p:cNvPr id="6" name="Shape 3"/>
          <p:cNvSpPr/>
          <p:nvPr/>
        </p:nvSpPr>
        <p:spPr>
          <a:xfrm>
            <a:off x="640080" y="1371600"/>
            <a:ext cx="3566160" cy="2651760"/>
          </a:xfrm>
          <a:prstGeom prst="roundRect">
            <a:avLst>
              <a:gd name="adj" fmla="val 4138"/>
            </a:avLst>
          </a:prstGeom>
          <a:solidFill>
            <a:srgbClr val="F4F8F9"/>
          </a:solidFill>
          <a:ln w="12700">
            <a:solidFill>
              <a:srgbClr val="D5E5E8"/>
            </a:solidFill>
            <a:prstDash val="solid"/>
          </a:ln>
        </p:spPr>
      </p:sp>
      <p:sp>
        <p:nvSpPr>
          <p:cNvPr id="7" name="Text 4"/>
          <p:cNvSpPr/>
          <p:nvPr/>
        </p:nvSpPr>
        <p:spPr>
          <a:xfrm>
            <a:off x="822960" y="1481328"/>
            <a:ext cx="3200400" cy="411480"/>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1. One point per day</a:t>
            </a:r>
            <a:endParaRPr lang="en-US" sz="1600" dirty="0"/>
          </a:p>
        </p:txBody>
      </p:sp>
      <p:sp>
        <p:nvSpPr>
          <p:cNvPr id="8" name="Text 5"/>
          <p:cNvSpPr/>
          <p:nvPr/>
        </p:nvSpPr>
        <p:spPr>
          <a:xfrm>
            <a:off x="822960" y="1938528"/>
            <a:ext cx="3200400" cy="1993392"/>
          </a:xfrm>
          <a:prstGeom prst="rect">
            <a:avLst/>
          </a:prstGeom>
          <a:noFill/>
          <a:ln/>
        </p:spPr>
        <p:txBody>
          <a:bodyPr wrap="square" lIns="0" tIns="0" rIns="0" bIns="0" rtlCol="0" anchor="t"/>
          <a:lstStyle/>
          <a:p>
            <a:pPr indent="0" marL="0">
              <a:spcAft>
                <a:spcPts val="500"/>
              </a:spcAft>
              <a:buNone/>
            </a:pPr>
            <a:r>
              <a:rPr lang="en-US" sz="1600" dirty="0">
                <a:solidFill>
                  <a:srgbClr val="1F2D33"/>
                </a:solidFill>
                <a:latin typeface="Calibri" pitchFamily="34" charset="0"/>
                <a:ea typeface="Calibri" pitchFamily="34" charset="-122"/>
                <a:cs typeface="Calibri" pitchFamily="34" charset="-120"/>
              </a:rPr>
              <a:t>For each measure and range, a pure function prepares one point per day: a value or empty, never zero.</a:t>
            </a:r>
            <a:endParaRPr lang="en-US" sz="1600" dirty="0"/>
          </a:p>
        </p:txBody>
      </p:sp>
      <p:sp>
        <p:nvSpPr>
          <p:cNvPr id="9" name="Shape 6"/>
          <p:cNvSpPr/>
          <p:nvPr/>
        </p:nvSpPr>
        <p:spPr>
          <a:xfrm>
            <a:off x="4434840" y="1371600"/>
            <a:ext cx="3566160" cy="2651760"/>
          </a:xfrm>
          <a:prstGeom prst="roundRect">
            <a:avLst>
              <a:gd name="adj" fmla="val 4138"/>
            </a:avLst>
          </a:prstGeom>
          <a:solidFill>
            <a:srgbClr val="F4F8F9"/>
          </a:solidFill>
          <a:ln w="12700">
            <a:solidFill>
              <a:srgbClr val="D5E5E8"/>
            </a:solidFill>
            <a:prstDash val="solid"/>
          </a:ln>
        </p:spPr>
      </p:sp>
      <p:sp>
        <p:nvSpPr>
          <p:cNvPr id="10" name="Text 7"/>
          <p:cNvSpPr/>
          <p:nvPr/>
        </p:nvSpPr>
        <p:spPr>
          <a:xfrm>
            <a:off x="4617720" y="1481328"/>
            <a:ext cx="3200400" cy="411480"/>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2. The 'bridged' mark</a:t>
            </a:r>
            <a:endParaRPr lang="en-US" sz="1600" dirty="0"/>
          </a:p>
        </p:txBody>
      </p:sp>
      <p:sp>
        <p:nvSpPr>
          <p:cNvPr id="11" name="Text 8"/>
          <p:cNvSpPr/>
          <p:nvPr/>
        </p:nvSpPr>
        <p:spPr>
          <a:xfrm>
            <a:off x="4617720" y="1938528"/>
            <a:ext cx="3200400" cy="1993392"/>
          </a:xfrm>
          <a:prstGeom prst="rect">
            <a:avLst/>
          </a:prstGeom>
          <a:noFill/>
          <a:ln/>
        </p:spPr>
        <p:txBody>
          <a:bodyPr wrap="square" lIns="0" tIns="0" rIns="0" bIns="0" rtlCol="0" anchor="t"/>
          <a:lstStyle/>
          <a:p>
            <a:pPr indent="0" marL="0">
              <a:spcAft>
                <a:spcPts val="500"/>
              </a:spcAft>
              <a:buNone/>
            </a:pPr>
            <a:r>
              <a:rPr lang="en-US" sz="1600" dirty="0">
                <a:solidFill>
                  <a:srgbClr val="1F2D33"/>
                </a:solidFill>
                <a:latin typeface="Calibri" pitchFamily="34" charset="0"/>
                <a:ea typeface="Calibri" pitchFamily="34" charset="-122"/>
                <a:cs typeface="Calibri" pitchFamily="34" charset="-120"/>
              </a:rPr>
              <a:t>A point that ends a segment after one or more empty days is marked. Chart.js draws that segment dashed.</a:t>
            </a:r>
            <a:endParaRPr lang="en-US" sz="1600" dirty="0"/>
          </a:p>
        </p:txBody>
      </p:sp>
      <p:sp>
        <p:nvSpPr>
          <p:cNvPr id="12" name="Shape 9"/>
          <p:cNvSpPr/>
          <p:nvPr/>
        </p:nvSpPr>
        <p:spPr>
          <a:xfrm>
            <a:off x="8229600" y="1371600"/>
            <a:ext cx="3337560" cy="2651760"/>
          </a:xfrm>
          <a:prstGeom prst="roundRect">
            <a:avLst>
              <a:gd name="adj" fmla="val 4138"/>
            </a:avLst>
          </a:prstGeom>
          <a:solidFill>
            <a:srgbClr val="F4F8F9"/>
          </a:solidFill>
          <a:ln w="12700">
            <a:solidFill>
              <a:srgbClr val="D5E5E8"/>
            </a:solidFill>
            <a:prstDash val="solid"/>
          </a:ln>
        </p:spPr>
      </p:sp>
      <p:sp>
        <p:nvSpPr>
          <p:cNvPr id="13" name="Text 10"/>
          <p:cNvSpPr/>
          <p:nvPr/>
        </p:nvSpPr>
        <p:spPr>
          <a:xfrm>
            <a:off x="8412480" y="1481328"/>
            <a:ext cx="2971800" cy="411480"/>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3. One procedure</a:t>
            </a:r>
            <a:endParaRPr lang="en-US" sz="1600" dirty="0"/>
          </a:p>
        </p:txBody>
      </p:sp>
      <p:sp>
        <p:nvSpPr>
          <p:cNvPr id="14" name="Text 11"/>
          <p:cNvSpPr/>
          <p:nvPr/>
        </p:nvSpPr>
        <p:spPr>
          <a:xfrm>
            <a:off x="8412480" y="1938528"/>
            <a:ext cx="2971800" cy="1993392"/>
          </a:xfrm>
          <a:prstGeom prst="rect">
            <a:avLst/>
          </a:prstGeom>
          <a:noFill/>
          <a:ln/>
        </p:spPr>
        <p:txBody>
          <a:bodyPr wrap="square" lIns="0" tIns="0" rIns="0" bIns="0" rtlCol="0" anchor="t"/>
          <a:lstStyle/>
          <a:p>
            <a:pPr indent="0" marL="0">
              <a:spcAft>
                <a:spcPts val="500"/>
              </a:spcAft>
              <a:buNone/>
            </a:pPr>
            <a:r>
              <a:rPr lang="en-US" sz="1600" dirty="0">
                <a:solidFill>
                  <a:srgbClr val="1F2D33"/>
                </a:solidFill>
                <a:latin typeface="Calibri" pitchFamily="34" charset="0"/>
                <a:ea typeface="Calibri" pitchFamily="34" charset="-122"/>
                <a:cs typeface="Calibri" pitchFamily="34" charset="-120"/>
              </a:rPr>
              <a:t>It serves the combined chart (one scale per line) and the three single charts.</a:t>
            </a:r>
            <a:endParaRPr lang="en-US" sz="1600" dirty="0"/>
          </a:p>
        </p:txBody>
      </p:sp>
      <p:sp>
        <p:nvSpPr>
          <p:cNvPr id="15" name="Shape 12"/>
          <p:cNvSpPr/>
          <p:nvPr/>
        </p:nvSpPr>
        <p:spPr>
          <a:xfrm>
            <a:off x="640080" y="4251960"/>
            <a:ext cx="5394960" cy="1874520"/>
          </a:xfrm>
          <a:prstGeom prst="roundRect">
            <a:avLst>
              <a:gd name="adj" fmla="val 5854"/>
            </a:avLst>
          </a:prstGeom>
          <a:solidFill>
            <a:srgbClr val="EAF6F6"/>
          </a:solidFill>
          <a:ln w="12700">
            <a:solidFill>
              <a:srgbClr val="D5E5E8"/>
            </a:solidFill>
            <a:prstDash val="solid"/>
          </a:ln>
        </p:spPr>
      </p:sp>
      <p:sp>
        <p:nvSpPr>
          <p:cNvPr id="16" name="Text 13"/>
          <p:cNvSpPr/>
          <p:nvPr/>
        </p:nvSpPr>
        <p:spPr>
          <a:xfrm>
            <a:off x="822960" y="4361688"/>
            <a:ext cx="5029200" cy="411480"/>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Statistics</a:t>
            </a:r>
            <a:endParaRPr lang="en-US" sz="1600" dirty="0"/>
          </a:p>
        </p:txBody>
      </p:sp>
      <p:sp>
        <p:nvSpPr>
          <p:cNvPr id="17" name="Text 14"/>
          <p:cNvSpPr/>
          <p:nvPr/>
        </p:nvSpPr>
        <p:spPr>
          <a:xfrm>
            <a:off x="822960" y="4818888"/>
            <a:ext cx="5029200" cy="1216152"/>
          </a:xfrm>
          <a:prstGeom prst="rect">
            <a:avLst/>
          </a:prstGeom>
          <a:noFill/>
          <a:ln/>
        </p:spPr>
        <p:txBody>
          <a:bodyPr wrap="square" lIns="0" tIns="0" rIns="0" bIns="0" rtlCol="0" anchor="t"/>
          <a:lstStyle/>
          <a:p>
            <a:pPr indent="0" marL="0">
              <a:spcAft>
                <a:spcPts val="500"/>
              </a:spcAft>
              <a:buNone/>
            </a:pPr>
            <a:r>
              <a:rPr lang="en-US" sz="1600" dirty="0">
                <a:solidFill>
                  <a:srgbClr val="1F2D33"/>
                </a:solidFill>
                <a:latin typeface="Calibri" pitchFamily="34" charset="0"/>
                <a:ea typeface="Calibri" pitchFamily="34" charset="-122"/>
                <a:cs typeface="Calibri" pitchFamily="34" charset="-120"/>
              </a:rPr>
              <a:t>Average, minimum, maximum and change use only real values. Empty days do not count.</a:t>
            </a:r>
            <a:endParaRPr lang="en-US" sz="1600" dirty="0"/>
          </a:p>
        </p:txBody>
      </p:sp>
      <p:sp>
        <p:nvSpPr>
          <p:cNvPr id="18" name="Shape 15"/>
          <p:cNvSpPr/>
          <p:nvPr/>
        </p:nvSpPr>
        <p:spPr>
          <a:xfrm>
            <a:off x="6172200" y="4251960"/>
            <a:ext cx="5394960" cy="1874520"/>
          </a:xfrm>
          <a:prstGeom prst="roundRect">
            <a:avLst>
              <a:gd name="adj" fmla="val 5854"/>
            </a:avLst>
          </a:prstGeom>
          <a:solidFill>
            <a:srgbClr val="EAF6F6"/>
          </a:solidFill>
          <a:ln w="12700">
            <a:solidFill>
              <a:srgbClr val="D5E5E8"/>
            </a:solidFill>
            <a:prstDash val="solid"/>
          </a:ln>
        </p:spPr>
      </p:sp>
      <p:sp>
        <p:nvSpPr>
          <p:cNvPr id="19" name="Text 16"/>
          <p:cNvSpPr/>
          <p:nvPr/>
        </p:nvSpPr>
        <p:spPr>
          <a:xfrm>
            <a:off x="6355080" y="4361688"/>
            <a:ext cx="5029200" cy="411480"/>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Accessibility</a:t>
            </a:r>
            <a:endParaRPr lang="en-US" sz="1600" dirty="0"/>
          </a:p>
        </p:txBody>
      </p:sp>
      <p:sp>
        <p:nvSpPr>
          <p:cNvPr id="20" name="Text 17"/>
          <p:cNvSpPr/>
          <p:nvPr/>
        </p:nvSpPr>
        <p:spPr>
          <a:xfrm>
            <a:off x="6355080" y="4818888"/>
            <a:ext cx="5029200" cy="1216152"/>
          </a:xfrm>
          <a:prstGeom prst="rect">
            <a:avLst/>
          </a:prstGeom>
          <a:noFill/>
          <a:ln/>
        </p:spPr>
        <p:txBody>
          <a:bodyPr wrap="square" lIns="0" tIns="0" rIns="0" bIns="0" rtlCol="0" anchor="t"/>
          <a:lstStyle/>
          <a:p>
            <a:pPr indent="0" marL="0">
              <a:spcAft>
                <a:spcPts val="500"/>
              </a:spcAft>
              <a:buNone/>
            </a:pPr>
            <a:r>
              <a:rPr lang="en-US" sz="1600" dirty="0">
                <a:solidFill>
                  <a:srgbClr val="1F2D33"/>
                </a:solidFill>
                <a:latin typeface="Calibri" pitchFamily="34" charset="0"/>
                <a:ea typeface="Calibri" pitchFamily="34" charset="-122"/>
                <a:cs typeface="Calibri" pitchFamily="34" charset="-120"/>
              </a:rPr>
              <a:t>Every chart also has a text table with the same data, and lines differ by marker as well as color.</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08792" cy="82296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7. Language and look</a:t>
            </a:r>
            <a:endParaRPr lang="en-US" sz="3200" dirty="0"/>
          </a:p>
        </p:txBody>
      </p:sp>
      <p:sp>
        <p:nvSpPr>
          <p:cNvPr id="3" name="Text 1"/>
          <p:cNvSpPr/>
          <p:nvPr/>
        </p:nvSpPr>
        <p:spPr>
          <a:xfrm>
            <a:off x="640080" y="6446520"/>
            <a:ext cx="6400800" cy="27432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Weight4All · Solution Design</a:t>
            </a:r>
            <a:endParaRPr lang="en-US" sz="1000" dirty="0"/>
          </a:p>
        </p:txBody>
      </p:sp>
      <p:sp>
        <p:nvSpPr>
          <p:cNvPr id="4" name="Text 2"/>
          <p:cNvSpPr/>
          <p:nvPr/>
        </p:nvSpPr>
        <p:spPr>
          <a:xfrm>
            <a:off x="10634472" y="6446520"/>
            <a:ext cx="914400" cy="274320"/>
          </a:xfrm>
          <a:prstGeom prst="rect">
            <a:avLst/>
          </a:prstGeom>
          <a:noFill/>
          <a:ln/>
        </p:spPr>
        <p:txBody>
          <a:bodyPr wrap="square" lIns="0" tIns="0" rIns="0" bIns="0" rtlCol="0" anchor="ctr"/>
          <a:lstStyle/>
          <a:p>
            <a:pPr algn="r" indent="0" marL="0">
              <a:buNone/>
            </a:pPr>
            <a:r>
              <a:rPr lang="en-US" sz="1000" dirty="0">
                <a:solidFill>
                  <a:srgbClr val="5B6B72"/>
                </a:solidFill>
                <a:latin typeface="Calibri" pitchFamily="34" charset="0"/>
                <a:ea typeface="Calibri" pitchFamily="34" charset="-122"/>
                <a:cs typeface="Calibri" pitchFamily="34" charset="-120"/>
              </a:rPr>
              <a:t>11</a:t>
            </a:r>
            <a:endParaRPr lang="en-US" sz="1000" dirty="0"/>
          </a:p>
        </p:txBody>
      </p:sp>
      <p:sp>
        <p:nvSpPr>
          <p:cNvPr id="6" name="Shape 3"/>
          <p:cNvSpPr/>
          <p:nvPr/>
        </p:nvSpPr>
        <p:spPr>
          <a:xfrm>
            <a:off x="640080" y="1371600"/>
            <a:ext cx="3566160" cy="4206240"/>
          </a:xfrm>
          <a:prstGeom prst="roundRect">
            <a:avLst>
              <a:gd name="adj" fmla="val 3077"/>
            </a:avLst>
          </a:prstGeom>
          <a:solidFill>
            <a:srgbClr val="F4F8F9"/>
          </a:solidFill>
          <a:ln w="12700">
            <a:solidFill>
              <a:srgbClr val="D5E5E8"/>
            </a:solidFill>
            <a:prstDash val="solid"/>
          </a:ln>
        </p:spPr>
      </p:sp>
      <p:sp>
        <p:nvSpPr>
          <p:cNvPr id="7" name="Text 4"/>
          <p:cNvSpPr/>
          <p:nvPr/>
        </p:nvSpPr>
        <p:spPr>
          <a:xfrm>
            <a:off x="822960" y="1481328"/>
            <a:ext cx="3200400" cy="411480"/>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Texts</a:t>
            </a:r>
            <a:endParaRPr lang="en-US" sz="1600" dirty="0"/>
          </a:p>
        </p:txBody>
      </p:sp>
      <p:sp>
        <p:nvSpPr>
          <p:cNvPr id="8" name="Text 5"/>
          <p:cNvSpPr/>
          <p:nvPr/>
        </p:nvSpPr>
        <p:spPr>
          <a:xfrm>
            <a:off x="822960" y="1938528"/>
            <a:ext cx="3200400" cy="3547872"/>
          </a:xfrm>
          <a:prstGeom prst="rect">
            <a:avLst/>
          </a:prstGeom>
          <a:noFill/>
          <a:ln/>
        </p:spPr>
        <p:txBody>
          <a:bodyPr wrap="square" lIns="0" tIns="0" rIns="0" bIns="0" rtlCol="0" anchor="t"/>
          <a:lstStyle/>
          <a:p>
            <a:pPr marL="342900" indent="-342900">
              <a:spcAft>
                <a:spcPts val="500"/>
              </a:spcAft>
              <a:buSzPct val="100000"/>
              <a:buChar char="•"/>
            </a:pPr>
            <a:r>
              <a:rPr lang="en-US" sz="1600" dirty="0">
                <a:solidFill>
                  <a:srgbClr val="1F2D33"/>
                </a:solidFill>
                <a:latin typeface="Calibri" pitchFamily="34" charset="0"/>
                <a:ea typeface="Calibri" pitchFamily="34" charset="-122"/>
                <a:cs typeface="Calibri" pitchFamily="34" charset="-120"/>
              </a:rPr>
              <a:t>One strings.ts file with Italian and English.</a:t>
            </a:r>
            <a:endParaRPr lang="en-US" sz="1600" dirty="0"/>
          </a:p>
          <a:p>
            <a:pPr marL="342900" indent="-342900">
              <a:spcAft>
                <a:spcPts val="500"/>
              </a:spcAft>
              <a:buSzPct val="100000"/>
              <a:buChar char="•"/>
            </a:pPr>
            <a:r>
              <a:rPr lang="en-US" sz="1600" dirty="0">
                <a:solidFill>
                  <a:srgbClr val="1F2D33"/>
                </a:solidFill>
                <a:latin typeface="Calibri" pitchFamily="34" charset="0"/>
                <a:ea typeface="Calibri" pitchFamily="34" charset="-122"/>
                <a:cs typeface="Calibri" pitchFamily="34" charset="-120"/>
              </a:rPr>
              <a:t>A missing language fails compilation.</a:t>
            </a:r>
            <a:endParaRPr lang="en-US" sz="1600" dirty="0"/>
          </a:p>
          <a:p>
            <a:pPr marL="342900" indent="-342900">
              <a:spcAft>
                <a:spcPts val="500"/>
              </a:spcAft>
              <a:buSzPct val="100000"/>
              <a:buChar char="•"/>
            </a:pPr>
            <a:r>
              <a:rPr lang="en-US" sz="1600" dirty="0">
                <a:solidFill>
                  <a:srgbClr val="1F2D33"/>
                </a:solidFill>
                <a:latin typeface="Calibri" pitchFamily="34" charset="0"/>
                <a:ea typeface="Calibri" pitchFamily="34" charset="-122"/>
                <a:cs typeface="Calibri" pitchFamily="34" charset="-120"/>
              </a:rPr>
              <a:t>Switching is immediate, no reload.</a:t>
            </a:r>
            <a:endParaRPr lang="en-US" sz="1600" dirty="0"/>
          </a:p>
          <a:p>
            <a:pPr marL="342900" indent="-342900">
              <a:spcAft>
                <a:spcPts val="500"/>
              </a:spcAft>
              <a:buSzPct val="100000"/>
              <a:buChar char="•"/>
            </a:pPr>
            <a:r>
              <a:rPr lang="en-US" sz="1600" dirty="0">
                <a:solidFill>
                  <a:srgbClr val="1F2D33"/>
                </a:solidFill>
                <a:latin typeface="Calibri" pitchFamily="34" charset="0"/>
                <a:ea typeface="Calibri" pitchFamily="34" charset="-122"/>
                <a:cs typeface="Calibri" pitchFamily="34" charset="-120"/>
              </a:rPr>
              <a:t>No literal text in templates.</a:t>
            </a:r>
            <a:endParaRPr lang="en-US" sz="1600" dirty="0"/>
          </a:p>
        </p:txBody>
      </p:sp>
      <p:sp>
        <p:nvSpPr>
          <p:cNvPr id="9" name="Shape 6"/>
          <p:cNvSpPr/>
          <p:nvPr/>
        </p:nvSpPr>
        <p:spPr>
          <a:xfrm>
            <a:off x="4434840" y="1371600"/>
            <a:ext cx="3566160" cy="4206240"/>
          </a:xfrm>
          <a:prstGeom prst="roundRect">
            <a:avLst>
              <a:gd name="adj" fmla="val 3077"/>
            </a:avLst>
          </a:prstGeom>
          <a:solidFill>
            <a:srgbClr val="F4F8F9"/>
          </a:solidFill>
          <a:ln w="12700">
            <a:solidFill>
              <a:srgbClr val="D5E5E8"/>
            </a:solidFill>
            <a:prstDash val="solid"/>
          </a:ln>
        </p:spPr>
      </p:sp>
      <p:sp>
        <p:nvSpPr>
          <p:cNvPr id="10" name="Text 7"/>
          <p:cNvSpPr/>
          <p:nvPr/>
        </p:nvSpPr>
        <p:spPr>
          <a:xfrm>
            <a:off x="4617720" y="1481328"/>
            <a:ext cx="3200400" cy="411480"/>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Numbers and dates</a:t>
            </a:r>
            <a:endParaRPr lang="en-US" sz="1600" dirty="0"/>
          </a:p>
        </p:txBody>
      </p:sp>
      <p:sp>
        <p:nvSpPr>
          <p:cNvPr id="11" name="Text 8"/>
          <p:cNvSpPr/>
          <p:nvPr/>
        </p:nvSpPr>
        <p:spPr>
          <a:xfrm>
            <a:off x="4617720" y="1938528"/>
            <a:ext cx="3200400" cy="3547872"/>
          </a:xfrm>
          <a:prstGeom prst="rect">
            <a:avLst/>
          </a:prstGeom>
          <a:noFill/>
          <a:ln/>
        </p:spPr>
        <p:txBody>
          <a:bodyPr wrap="square" lIns="0" tIns="0" rIns="0" bIns="0" rtlCol="0" anchor="t"/>
          <a:lstStyle/>
          <a:p>
            <a:pPr marL="342900" indent="-342900">
              <a:spcAft>
                <a:spcPts val="500"/>
              </a:spcAft>
              <a:buSzPct val="100000"/>
              <a:buChar char="•"/>
            </a:pPr>
            <a:r>
              <a:rPr lang="en-US" sz="1600" dirty="0">
                <a:solidFill>
                  <a:srgbClr val="1F2D33"/>
                </a:solidFill>
                <a:latin typeface="Calibri" pitchFamily="34" charset="0"/>
                <a:ea typeface="Calibri" pitchFamily="34" charset="-122"/>
                <a:cs typeface="Calibri" pitchFamily="34" charset="-120"/>
              </a:rPr>
              <a:t>One module reads, rounds and formats.</a:t>
            </a:r>
            <a:endParaRPr lang="en-US" sz="1600" dirty="0"/>
          </a:p>
          <a:p>
            <a:pPr marL="342900" indent="-342900">
              <a:spcAft>
                <a:spcPts val="500"/>
              </a:spcAft>
              <a:buSzPct val="100000"/>
              <a:buChar char="•"/>
            </a:pPr>
            <a:r>
              <a:rPr lang="en-US" sz="1600" dirty="0">
                <a:solidFill>
                  <a:srgbClr val="1F2D33"/>
                </a:solidFill>
                <a:latin typeface="Calibri" pitchFamily="34" charset="0"/>
                <a:ea typeface="Calibri" pitchFamily="34" charset="-122"/>
                <a:cs typeface="Calibri" pitchFamily="34" charset="-120"/>
              </a:rPr>
              <a:t>Comma in Italian, point in English: same stored value.</a:t>
            </a:r>
            <a:endParaRPr lang="en-US" sz="1600" dirty="0"/>
          </a:p>
          <a:p>
            <a:pPr marL="342900" indent="-342900">
              <a:spcAft>
                <a:spcPts val="500"/>
              </a:spcAft>
              <a:buSzPct val="100000"/>
              <a:buChar char="•"/>
            </a:pPr>
            <a:r>
              <a:rPr lang="en-US" sz="1600" dirty="0">
                <a:solidFill>
                  <a:srgbClr val="1F2D33"/>
                </a:solidFill>
                <a:latin typeface="Calibri" pitchFamily="34" charset="0"/>
                <a:ea typeface="Calibri" pitchFamily="34" charset="-122"/>
                <a:cs typeface="Calibri" pitchFamily="34" charset="-120"/>
              </a:rPr>
              <a:t>Weight is handled in whole tenths: no 72.80000000000001.</a:t>
            </a:r>
            <a:endParaRPr lang="en-US" sz="1600" dirty="0"/>
          </a:p>
        </p:txBody>
      </p:sp>
      <p:sp>
        <p:nvSpPr>
          <p:cNvPr id="12" name="Shape 9"/>
          <p:cNvSpPr/>
          <p:nvPr/>
        </p:nvSpPr>
        <p:spPr>
          <a:xfrm>
            <a:off x="8229600" y="1371600"/>
            <a:ext cx="3337560" cy="4206240"/>
          </a:xfrm>
          <a:prstGeom prst="roundRect">
            <a:avLst>
              <a:gd name="adj" fmla="val 3288"/>
            </a:avLst>
          </a:prstGeom>
          <a:solidFill>
            <a:srgbClr val="F4F8F9"/>
          </a:solidFill>
          <a:ln w="12700">
            <a:solidFill>
              <a:srgbClr val="D5E5E8"/>
            </a:solidFill>
            <a:prstDash val="solid"/>
          </a:ln>
        </p:spPr>
      </p:sp>
      <p:sp>
        <p:nvSpPr>
          <p:cNvPr id="13" name="Text 10"/>
          <p:cNvSpPr/>
          <p:nvPr/>
        </p:nvSpPr>
        <p:spPr>
          <a:xfrm>
            <a:off x="8412480" y="1481328"/>
            <a:ext cx="2971800" cy="411480"/>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Look</a:t>
            </a:r>
            <a:endParaRPr lang="en-US" sz="1600" dirty="0"/>
          </a:p>
        </p:txBody>
      </p:sp>
      <p:sp>
        <p:nvSpPr>
          <p:cNvPr id="14" name="Text 11"/>
          <p:cNvSpPr/>
          <p:nvPr/>
        </p:nvSpPr>
        <p:spPr>
          <a:xfrm>
            <a:off x="8412480" y="1938528"/>
            <a:ext cx="2971800" cy="3547872"/>
          </a:xfrm>
          <a:prstGeom prst="rect">
            <a:avLst/>
          </a:prstGeom>
          <a:noFill/>
          <a:ln/>
        </p:spPr>
        <p:txBody>
          <a:bodyPr wrap="square" lIns="0" tIns="0" rIns="0" bIns="0" rtlCol="0" anchor="t"/>
          <a:lstStyle/>
          <a:p>
            <a:pPr marL="342900" indent="-342900">
              <a:spcAft>
                <a:spcPts val="500"/>
              </a:spcAft>
              <a:buSzPct val="100000"/>
              <a:buChar char="•"/>
            </a:pPr>
            <a:r>
              <a:rPr lang="en-US" sz="1600" dirty="0">
                <a:solidFill>
                  <a:srgbClr val="1F2D33"/>
                </a:solidFill>
                <a:latin typeface="Calibri" pitchFamily="34" charset="0"/>
                <a:ea typeface="Calibri" pitchFamily="34" charset="-122"/>
                <a:cs typeface="Calibri" pitchFamily="34" charset="-120"/>
              </a:rPr>
              <a:t>Angular Material, M3 theme.</a:t>
            </a:r>
            <a:endParaRPr lang="en-US" sz="1600" dirty="0"/>
          </a:p>
          <a:p>
            <a:pPr marL="342900" indent="-342900">
              <a:spcAft>
                <a:spcPts val="500"/>
              </a:spcAft>
              <a:buSzPct val="100000"/>
              <a:buChar char="•"/>
            </a:pPr>
            <a:r>
              <a:rPr lang="en-US" sz="1600" dirty="0">
                <a:solidFill>
                  <a:srgbClr val="1F2D33"/>
                </a:solidFill>
                <a:latin typeface="Calibri" pitchFamily="34" charset="0"/>
                <a:ea typeface="Calibri" pitchFamily="34" charset="-122"/>
                <a:cs typeface="Calibri" pitchFamily="34" charset="-120"/>
              </a:rPr>
              <a:t>Six accent colors, switched at runtime.</a:t>
            </a:r>
            <a:endParaRPr lang="en-US" sz="1600" dirty="0"/>
          </a:p>
          <a:p>
            <a:pPr marL="342900" indent="-342900">
              <a:spcAft>
                <a:spcPts val="500"/>
              </a:spcAft>
              <a:buSzPct val="100000"/>
              <a:buChar char="•"/>
            </a:pPr>
            <a:r>
              <a:rPr lang="en-US" sz="1600" dirty="0">
                <a:solidFill>
                  <a:srgbClr val="1F2D33"/>
                </a:solidFill>
                <a:latin typeface="Calibri" pitchFamily="34" charset="0"/>
                <a:ea typeface="Calibri" pitchFamily="34" charset="-122"/>
                <a:cs typeface="Calibri" pitchFamily="34" charset="-120"/>
              </a:rPr>
              <a:t>Chart colors are independent of the accent.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08792" cy="82296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8. Where it lives and how it ships</a:t>
            </a:r>
            <a:endParaRPr lang="en-US" sz="3200" dirty="0"/>
          </a:p>
        </p:txBody>
      </p:sp>
      <p:sp>
        <p:nvSpPr>
          <p:cNvPr id="3" name="Text 1"/>
          <p:cNvSpPr/>
          <p:nvPr/>
        </p:nvSpPr>
        <p:spPr>
          <a:xfrm>
            <a:off x="640080" y="6446520"/>
            <a:ext cx="6400800" cy="27432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Weight4All · Solution Design</a:t>
            </a:r>
            <a:endParaRPr lang="en-US" sz="1000" dirty="0"/>
          </a:p>
        </p:txBody>
      </p:sp>
      <p:sp>
        <p:nvSpPr>
          <p:cNvPr id="4" name="Text 2"/>
          <p:cNvSpPr/>
          <p:nvPr/>
        </p:nvSpPr>
        <p:spPr>
          <a:xfrm>
            <a:off x="10634472" y="6446520"/>
            <a:ext cx="914400" cy="274320"/>
          </a:xfrm>
          <a:prstGeom prst="rect">
            <a:avLst/>
          </a:prstGeom>
          <a:noFill/>
          <a:ln/>
        </p:spPr>
        <p:txBody>
          <a:bodyPr wrap="square" lIns="0" tIns="0" rIns="0" bIns="0" rtlCol="0" anchor="ctr"/>
          <a:lstStyle/>
          <a:p>
            <a:pPr algn="r" indent="0" marL="0">
              <a:buNone/>
            </a:pPr>
            <a:r>
              <a:rPr lang="en-US" sz="1000" dirty="0">
                <a:solidFill>
                  <a:srgbClr val="5B6B72"/>
                </a:solidFill>
                <a:latin typeface="Calibri" pitchFamily="34" charset="0"/>
                <a:ea typeface="Calibri" pitchFamily="34" charset="-122"/>
                <a:cs typeface="Calibri" pitchFamily="34" charset="-120"/>
              </a:rPr>
              <a:t>12</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908792" cy="914400"/>
        </p:xfrm>
        <a:graphic>
          <a:graphicData uri="http://schemas.openxmlformats.org/drawingml/2006/table">
            <a:tbl>
              <a:tblPr/>
              <a:tblGrid>
                <a:gridCol w="2194560"/>
                <a:gridCol w="4937760"/>
                <a:gridCol w="3776472"/>
              </a:tblGrid>
              <a:tr h="5943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Environment</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solidFill>
                      <a:srgbClr val="0B3C4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Where</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solidFill>
                      <a:srgbClr val="0B3C4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is for</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solidFill>
                      <a:srgbClr val="0B3C49"/>
                    </a:solidFill>
                  </a:tcPr>
                </a:tc>
              </a:tr>
              <a:tr h="594360">
                <a:tc>
                  <a:txBody>
                    <a:bodyPr/>
                    <a:lstStyle/>
                    <a:p>
                      <a:pPr indent="0" marL="0">
                        <a:buNone/>
                      </a:pPr>
                      <a:r>
                        <a:rPr lang="en-US" sz="1300" b="1" dirty="0">
                          <a:solidFill>
                            <a:srgbClr val="1F2D33"/>
                          </a:solidFill>
                          <a:latin typeface="Calibri" pitchFamily="34" charset="0"/>
                          <a:ea typeface="Calibri" pitchFamily="34" charset="-122"/>
                          <a:cs typeface="Calibri" pitchFamily="34" charset="-120"/>
                        </a:rPr>
                        <a:t>local</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Firebase Emulator (needs Java 21)</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development and tests</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r h="594360">
                <a:tc>
                  <a:txBody>
                    <a:bodyPr/>
                    <a:lstStyle/>
                    <a:p>
                      <a:pPr indent="0" marL="0">
                        <a:buNone/>
                      </a:pPr>
                      <a:r>
                        <a:rPr lang="en-US" sz="1300" b="1" dirty="0">
                          <a:solidFill>
                            <a:srgbClr val="1F2D33"/>
                          </a:solidFill>
                          <a:latin typeface="Calibri" pitchFamily="34" charset="0"/>
                          <a:ea typeface="Calibri" pitchFamily="34" charset="-122"/>
                          <a:cs typeface="Calibri" pitchFamily="34" charset="-120"/>
                        </a:rPr>
                        <a:t>prod</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Firebase Hosting + real Firebase, HTTPS</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the app you use</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bl>
          </a:graphicData>
        </a:graphic>
      </p:graphicFrame>
      <p:sp>
        <p:nvSpPr>
          <p:cNvPr id="7" name="Shape 3"/>
          <p:cNvSpPr/>
          <p:nvPr/>
        </p:nvSpPr>
        <p:spPr>
          <a:xfrm>
            <a:off x="640080" y="3657600"/>
            <a:ext cx="10908792" cy="2194560"/>
          </a:xfrm>
          <a:prstGeom prst="roundRect">
            <a:avLst>
              <a:gd name="adj" fmla="val 5000"/>
            </a:avLst>
          </a:prstGeom>
          <a:solidFill>
            <a:srgbClr val="F4F8F9"/>
          </a:solidFill>
          <a:ln w="12700">
            <a:solidFill>
              <a:srgbClr val="D5E5E8"/>
            </a:solidFill>
            <a:prstDash val="solid"/>
          </a:ln>
        </p:spPr>
      </p:sp>
      <p:sp>
        <p:nvSpPr>
          <p:cNvPr id="8" name="Text 4"/>
          <p:cNvSpPr/>
          <p:nvPr/>
        </p:nvSpPr>
        <p:spPr>
          <a:xfrm>
            <a:off x="822960" y="3767328"/>
            <a:ext cx="10543032" cy="411480"/>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Manual release</a:t>
            </a:r>
            <a:endParaRPr lang="en-US" sz="1600" dirty="0"/>
          </a:p>
        </p:txBody>
      </p:sp>
      <p:sp>
        <p:nvSpPr>
          <p:cNvPr id="9" name="Text 5"/>
          <p:cNvSpPr/>
          <p:nvPr/>
        </p:nvSpPr>
        <p:spPr>
          <a:xfrm>
            <a:off x="822960" y="4224528"/>
            <a:ext cx="10543032" cy="1536192"/>
          </a:xfrm>
          <a:prstGeom prst="rect">
            <a:avLst/>
          </a:prstGeom>
          <a:noFill/>
          <a:ln/>
        </p:spPr>
        <p:txBody>
          <a:bodyPr wrap="square" lIns="0" tIns="0" rIns="0" bIns="0" rtlCol="0" anchor="t"/>
          <a:lstStyle/>
          <a:p>
            <a:pPr marL="342900" indent="-342900">
              <a:spcAft>
                <a:spcPts val="500"/>
              </a:spcAft>
              <a:buSzPct val="100000"/>
              <a:buChar char="•"/>
            </a:pPr>
            <a:r>
              <a:rPr lang="en-US" sz="1700" dirty="0">
                <a:solidFill>
                  <a:srgbClr val="1F2D33"/>
                </a:solidFill>
                <a:latin typeface="Calibri" pitchFamily="34" charset="0"/>
                <a:ea typeface="Calibri" pitchFamily="34" charset="-122"/>
                <a:cs typeface="Calibri" pitchFamily="34" charset="-120"/>
              </a:rPr>
              <a:t>First the security rules, and only after the rules tests pass.</a:t>
            </a:r>
            <a:endParaRPr lang="en-US" sz="1700" dirty="0"/>
          </a:p>
          <a:p>
            <a:pPr marL="342900" indent="-342900">
              <a:spcAft>
                <a:spcPts val="500"/>
              </a:spcAft>
              <a:buSzPct val="100000"/>
              <a:buChar char="•"/>
            </a:pPr>
            <a:r>
              <a:rPr lang="en-US" sz="1700" dirty="0">
                <a:solidFill>
                  <a:srgbClr val="1F2D33"/>
                </a:solidFill>
                <a:latin typeface="Calibri" pitchFamily="34" charset="0"/>
                <a:ea typeface="Calibri" pitchFamily="34" charset="-122"/>
                <a:cs typeface="Calibri" pitchFamily="34" charset="-120"/>
              </a:rPr>
              <a:t>Then the app, with firebase deploy.</a:t>
            </a:r>
            <a:endParaRPr lang="en-US" sz="1700" dirty="0"/>
          </a:p>
          <a:p>
            <a:pPr marL="342900" indent="-342900">
              <a:spcAft>
                <a:spcPts val="500"/>
              </a:spcAft>
              <a:buSzPct val="100000"/>
              <a:buChar char="•"/>
            </a:pPr>
            <a:r>
              <a:rPr lang="en-US" sz="1700" dirty="0">
                <a:solidFill>
                  <a:srgbClr val="1F2D33"/>
                </a:solidFill>
                <a:latin typeface="Calibri" pitchFamily="34" charset="0"/>
                <a:ea typeface="Calibri" pitchFamily="34" charset="-122"/>
                <a:cs typeface="Calibri" pitchFamily="34" charset="-120"/>
              </a:rPr>
              <a:t>No automatic pipeline in version 1.</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08792" cy="82296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9. Keeping the rules true</a:t>
            </a:r>
            <a:endParaRPr lang="en-US" sz="3200" dirty="0"/>
          </a:p>
        </p:txBody>
      </p:sp>
      <p:sp>
        <p:nvSpPr>
          <p:cNvPr id="3" name="Text 1"/>
          <p:cNvSpPr/>
          <p:nvPr/>
        </p:nvSpPr>
        <p:spPr>
          <a:xfrm>
            <a:off x="640080" y="6446520"/>
            <a:ext cx="6400800" cy="27432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Weight4All · Solution Design</a:t>
            </a:r>
            <a:endParaRPr lang="en-US" sz="1000" dirty="0"/>
          </a:p>
        </p:txBody>
      </p:sp>
      <p:sp>
        <p:nvSpPr>
          <p:cNvPr id="4" name="Text 2"/>
          <p:cNvSpPr/>
          <p:nvPr/>
        </p:nvSpPr>
        <p:spPr>
          <a:xfrm>
            <a:off x="10634472" y="6446520"/>
            <a:ext cx="914400" cy="274320"/>
          </a:xfrm>
          <a:prstGeom prst="rect">
            <a:avLst/>
          </a:prstGeom>
          <a:noFill/>
          <a:ln/>
        </p:spPr>
        <p:txBody>
          <a:bodyPr wrap="square" lIns="0" tIns="0" rIns="0" bIns="0" rtlCol="0" anchor="ctr"/>
          <a:lstStyle/>
          <a:p>
            <a:pPr algn="r" indent="0" marL="0">
              <a:buNone/>
            </a:pPr>
            <a:r>
              <a:rPr lang="en-US" sz="1000" dirty="0">
                <a:solidFill>
                  <a:srgbClr val="5B6B72"/>
                </a:solidFill>
                <a:latin typeface="Calibri" pitchFamily="34" charset="0"/>
                <a:ea typeface="Calibri" pitchFamily="34" charset="-122"/>
                <a:cs typeface="Calibri" pitchFamily="34" charset="-120"/>
              </a:rPr>
              <a:t>13</a:t>
            </a:r>
            <a:endParaRPr lang="en-US" sz="1000" dirty="0"/>
          </a:p>
        </p:txBody>
      </p:sp>
      <p:sp>
        <p:nvSpPr>
          <p:cNvPr id="6" name="Shape 3"/>
          <p:cNvSpPr/>
          <p:nvPr/>
        </p:nvSpPr>
        <p:spPr>
          <a:xfrm>
            <a:off x="640080" y="1371600"/>
            <a:ext cx="10908792" cy="1737360"/>
          </a:xfrm>
          <a:prstGeom prst="roundRect">
            <a:avLst>
              <a:gd name="adj" fmla="val 6316"/>
            </a:avLst>
          </a:prstGeom>
          <a:solidFill>
            <a:srgbClr val="F4F8F9"/>
          </a:solidFill>
          <a:ln w="12700">
            <a:solidFill>
              <a:srgbClr val="D5E5E8"/>
            </a:solidFill>
            <a:prstDash val="solid"/>
          </a:ln>
        </p:spPr>
      </p:sp>
      <p:sp>
        <p:nvSpPr>
          <p:cNvPr id="7" name="Text 4"/>
          <p:cNvSpPr/>
          <p:nvPr/>
        </p:nvSpPr>
        <p:spPr>
          <a:xfrm>
            <a:off x="822960" y="1481328"/>
            <a:ext cx="10543032" cy="411480"/>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The build fails when someone breaks a rule</a:t>
            </a:r>
            <a:endParaRPr lang="en-US" sz="1600" dirty="0"/>
          </a:p>
        </p:txBody>
      </p:sp>
      <p:sp>
        <p:nvSpPr>
          <p:cNvPr id="8" name="Text 5"/>
          <p:cNvSpPr/>
          <p:nvPr/>
        </p:nvSpPr>
        <p:spPr>
          <a:xfrm>
            <a:off x="822960" y="1938528"/>
            <a:ext cx="10543032" cy="1078992"/>
          </a:xfrm>
          <a:prstGeom prst="rect">
            <a:avLst/>
          </a:prstGeom>
          <a:noFill/>
          <a:ln/>
        </p:spPr>
        <p:txBody>
          <a:bodyPr wrap="square" lIns="0" tIns="0" rIns="0" bIns="0" rtlCol="0" anchor="t"/>
          <a:lstStyle/>
          <a:p>
            <a:pPr marL="342900" indent="-342900">
              <a:spcAft>
                <a:spcPts val="500"/>
              </a:spcAft>
              <a:buSzPct val="100000"/>
              <a:buChar char="•"/>
            </a:pPr>
            <a:r>
              <a:rPr lang="en-US" sz="1600" dirty="0">
                <a:solidFill>
                  <a:srgbClr val="1F2D33"/>
                </a:solidFill>
                <a:latin typeface="Calibri" pitchFamily="34" charset="0"/>
                <a:ea typeface="Calibri" pitchFamily="34" charset="-122"/>
                <a:cs typeface="Calibri" pitchFamily="34" charset="-120"/>
              </a:rPr>
              <a:t>firebase/* imported outside the data layer · direct use of the clock · dimension names written by hand · literal text inside templates.</a:t>
            </a:r>
            <a:endParaRPr lang="en-US" sz="1600" dirty="0"/>
          </a:p>
        </p:txBody>
      </p:sp>
      <p:sp>
        <p:nvSpPr>
          <p:cNvPr id="9" name="Shape 6"/>
          <p:cNvSpPr/>
          <p:nvPr/>
        </p:nvSpPr>
        <p:spPr>
          <a:xfrm>
            <a:off x="640080" y="3383280"/>
            <a:ext cx="3520440" cy="2103120"/>
          </a:xfrm>
          <a:prstGeom prst="roundRect">
            <a:avLst>
              <a:gd name="adj" fmla="val 5217"/>
            </a:avLst>
          </a:prstGeom>
          <a:solidFill>
            <a:srgbClr val="EAF6F6"/>
          </a:solidFill>
          <a:ln w="12700">
            <a:solidFill>
              <a:srgbClr val="D5E5E8"/>
            </a:solidFill>
            <a:prstDash val="solid"/>
          </a:ln>
        </p:spPr>
      </p:sp>
      <p:sp>
        <p:nvSpPr>
          <p:cNvPr id="10" name="Text 7"/>
          <p:cNvSpPr/>
          <p:nvPr/>
        </p:nvSpPr>
        <p:spPr>
          <a:xfrm>
            <a:off x="822960" y="3493008"/>
            <a:ext cx="3154680" cy="411480"/>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Pure functions</a:t>
            </a:r>
            <a:endParaRPr lang="en-US" sz="1600" dirty="0"/>
          </a:p>
        </p:txBody>
      </p:sp>
      <p:sp>
        <p:nvSpPr>
          <p:cNvPr id="11" name="Text 8"/>
          <p:cNvSpPr/>
          <p:nvPr/>
        </p:nvSpPr>
        <p:spPr>
          <a:xfrm>
            <a:off x="822960" y="3950208"/>
            <a:ext cx="3154680" cy="1444752"/>
          </a:xfrm>
          <a:prstGeom prst="rect">
            <a:avLst/>
          </a:prstGeom>
          <a:noFill/>
          <a:ln/>
        </p:spPr>
        <p:txBody>
          <a:bodyPr wrap="square" lIns="0" tIns="0" rIns="0" bIns="0" rtlCol="0" anchor="t"/>
          <a:lstStyle/>
          <a:p>
            <a:pPr indent="0" marL="0">
              <a:spcAft>
                <a:spcPts val="500"/>
              </a:spcAft>
              <a:buNone/>
            </a:pPr>
            <a:r>
              <a:rPr lang="en-US" sz="1700" dirty="0">
                <a:solidFill>
                  <a:srgbClr val="1F2D33"/>
                </a:solidFill>
                <a:latin typeface="Calibri" pitchFamily="34" charset="0"/>
                <a:ea typeface="Calibri" pitchFamily="34" charset="-122"/>
                <a:cs typeface="Calibri" pitchFamily="34" charset="-120"/>
              </a:rPr>
              <a:t>Vitest, quick tests next to each file.</a:t>
            </a:r>
            <a:endParaRPr lang="en-US" sz="1700" dirty="0"/>
          </a:p>
        </p:txBody>
      </p:sp>
      <p:sp>
        <p:nvSpPr>
          <p:cNvPr id="12" name="Shape 9"/>
          <p:cNvSpPr/>
          <p:nvPr/>
        </p:nvSpPr>
        <p:spPr>
          <a:xfrm>
            <a:off x="4343400" y="3383280"/>
            <a:ext cx="3520440" cy="2103120"/>
          </a:xfrm>
          <a:prstGeom prst="roundRect">
            <a:avLst>
              <a:gd name="adj" fmla="val 5217"/>
            </a:avLst>
          </a:prstGeom>
          <a:solidFill>
            <a:srgbClr val="EAF6F6"/>
          </a:solidFill>
          <a:ln w="12700">
            <a:solidFill>
              <a:srgbClr val="D5E5E8"/>
            </a:solidFill>
            <a:prstDash val="solid"/>
          </a:ln>
        </p:spPr>
      </p:sp>
      <p:sp>
        <p:nvSpPr>
          <p:cNvPr id="13" name="Text 10"/>
          <p:cNvSpPr/>
          <p:nvPr/>
        </p:nvSpPr>
        <p:spPr>
          <a:xfrm>
            <a:off x="4526280" y="3493008"/>
            <a:ext cx="3154680" cy="411480"/>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Security rules</a:t>
            </a:r>
            <a:endParaRPr lang="en-US" sz="1600" dirty="0"/>
          </a:p>
        </p:txBody>
      </p:sp>
      <p:sp>
        <p:nvSpPr>
          <p:cNvPr id="14" name="Text 11"/>
          <p:cNvSpPr/>
          <p:nvPr/>
        </p:nvSpPr>
        <p:spPr>
          <a:xfrm>
            <a:off x="4526280" y="3950208"/>
            <a:ext cx="3154680" cy="1444752"/>
          </a:xfrm>
          <a:prstGeom prst="rect">
            <a:avLst/>
          </a:prstGeom>
          <a:noFill/>
          <a:ln/>
        </p:spPr>
        <p:txBody>
          <a:bodyPr wrap="square" lIns="0" tIns="0" rIns="0" bIns="0" rtlCol="0" anchor="t"/>
          <a:lstStyle/>
          <a:p>
            <a:pPr indent="0" marL="0">
              <a:spcAft>
                <a:spcPts val="500"/>
              </a:spcAft>
              <a:buNone/>
            </a:pPr>
            <a:r>
              <a:rPr lang="en-US" sz="1700" dirty="0">
                <a:solidFill>
                  <a:srgbClr val="1F2D33"/>
                </a:solidFill>
                <a:latin typeface="Calibri" pitchFamily="34" charset="0"/>
                <a:ea typeface="Calibri" pitchFamily="34" charset="-122"/>
                <a:cs typeface="Calibri" pitchFamily="34" charset="-120"/>
              </a:rPr>
              <a:t>Firebase Emulator: user A cannot read user B's data.</a:t>
            </a:r>
            <a:endParaRPr lang="en-US" sz="1700" dirty="0"/>
          </a:p>
        </p:txBody>
      </p:sp>
      <p:sp>
        <p:nvSpPr>
          <p:cNvPr id="15" name="Shape 12"/>
          <p:cNvSpPr/>
          <p:nvPr/>
        </p:nvSpPr>
        <p:spPr>
          <a:xfrm>
            <a:off x="8046720" y="3383280"/>
            <a:ext cx="3520440" cy="2103120"/>
          </a:xfrm>
          <a:prstGeom prst="roundRect">
            <a:avLst>
              <a:gd name="adj" fmla="val 5217"/>
            </a:avLst>
          </a:prstGeom>
          <a:solidFill>
            <a:srgbClr val="EAF6F6"/>
          </a:solidFill>
          <a:ln w="12700">
            <a:solidFill>
              <a:srgbClr val="D5E5E8"/>
            </a:solidFill>
            <a:prstDash val="solid"/>
          </a:ln>
        </p:spPr>
      </p:sp>
      <p:sp>
        <p:nvSpPr>
          <p:cNvPr id="16" name="Text 13"/>
          <p:cNvSpPr/>
          <p:nvPr/>
        </p:nvSpPr>
        <p:spPr>
          <a:xfrm>
            <a:off x="8229600" y="3493008"/>
            <a:ext cx="3154680" cy="411480"/>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Full journeys</a:t>
            </a:r>
            <a:endParaRPr lang="en-US" sz="1600" dirty="0"/>
          </a:p>
        </p:txBody>
      </p:sp>
      <p:sp>
        <p:nvSpPr>
          <p:cNvPr id="17" name="Text 14"/>
          <p:cNvSpPr/>
          <p:nvPr/>
        </p:nvSpPr>
        <p:spPr>
          <a:xfrm>
            <a:off x="8229600" y="3950208"/>
            <a:ext cx="3154680" cy="1444752"/>
          </a:xfrm>
          <a:prstGeom prst="rect">
            <a:avLst/>
          </a:prstGeom>
          <a:noFill/>
          <a:ln/>
        </p:spPr>
        <p:txBody>
          <a:bodyPr wrap="square" lIns="0" tIns="0" rIns="0" bIns="0" rtlCol="0" anchor="t"/>
          <a:lstStyle/>
          <a:p>
            <a:pPr indent="0" marL="0">
              <a:spcAft>
                <a:spcPts val="500"/>
              </a:spcAft>
              <a:buNone/>
            </a:pPr>
            <a:r>
              <a:rPr lang="en-US" sz="1700" dirty="0">
                <a:solidFill>
                  <a:srgbClr val="1F2D33"/>
                </a:solidFill>
                <a:latin typeface="Calibri" pitchFamily="34" charset="0"/>
                <a:ea typeface="Calibri" pitchFamily="34" charset="-122"/>
                <a:cs typeface="Calibri" pitchFamily="34" charset="-120"/>
              </a:rPr>
              <a:t>Playwright at 360, 768 and 1280 px, completed in F4.</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08792" cy="82296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10. Risks and how we handle them</a:t>
            </a:r>
            <a:endParaRPr lang="en-US" sz="3200" dirty="0"/>
          </a:p>
        </p:txBody>
      </p:sp>
      <p:sp>
        <p:nvSpPr>
          <p:cNvPr id="3" name="Text 1"/>
          <p:cNvSpPr/>
          <p:nvPr/>
        </p:nvSpPr>
        <p:spPr>
          <a:xfrm>
            <a:off x="640080" y="6446520"/>
            <a:ext cx="6400800" cy="27432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Weight4All · Solution Design</a:t>
            </a:r>
            <a:endParaRPr lang="en-US" sz="1000" dirty="0"/>
          </a:p>
        </p:txBody>
      </p:sp>
      <p:sp>
        <p:nvSpPr>
          <p:cNvPr id="4" name="Text 2"/>
          <p:cNvSpPr/>
          <p:nvPr/>
        </p:nvSpPr>
        <p:spPr>
          <a:xfrm>
            <a:off x="10634472" y="6446520"/>
            <a:ext cx="914400" cy="274320"/>
          </a:xfrm>
          <a:prstGeom prst="rect">
            <a:avLst/>
          </a:prstGeom>
          <a:noFill/>
          <a:ln/>
        </p:spPr>
        <p:txBody>
          <a:bodyPr wrap="square" lIns="0" tIns="0" rIns="0" bIns="0" rtlCol="0" anchor="ctr"/>
          <a:lstStyle/>
          <a:p>
            <a:pPr algn="r" indent="0" marL="0">
              <a:buNone/>
            </a:pPr>
            <a:r>
              <a:rPr lang="en-US" sz="1000" dirty="0">
                <a:solidFill>
                  <a:srgbClr val="5B6B72"/>
                </a:solidFill>
                <a:latin typeface="Calibri" pitchFamily="34" charset="0"/>
                <a:ea typeface="Calibri" pitchFamily="34" charset="-122"/>
                <a:cs typeface="Calibri" pitchFamily="34" charset="-120"/>
              </a:rPr>
              <a:t>14</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0908792" cy="914400"/>
        </p:xfrm>
        <a:graphic>
          <a:graphicData uri="http://schemas.openxmlformats.org/drawingml/2006/table">
            <a:tbl>
              <a:tblPr/>
              <a:tblGrid>
                <a:gridCol w="4754880"/>
                <a:gridCol w="6153912"/>
              </a:tblGrid>
              <a:tr h="6400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Risk</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solidFill>
                      <a:srgbClr val="0B3C4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the design does</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solidFill>
                      <a:srgbClr val="0B3C49"/>
                    </a:solidFill>
                  </a:tcPr>
                </a:tc>
              </a:tr>
              <a:tr h="640080">
                <a:tc>
                  <a:txBody>
                    <a:bodyPr/>
                    <a:lstStyle/>
                    <a:p>
                      <a:pPr indent="0" marL="0">
                        <a:buNone/>
                      </a:pPr>
                      <a:r>
                        <a:rPr lang="en-US" sz="1300" b="1" dirty="0">
                          <a:solidFill>
                            <a:srgbClr val="1F2D33"/>
                          </a:solidFill>
                          <a:latin typeface="Calibri" pitchFamily="34" charset="0"/>
                          <a:ea typeface="Calibri" pitchFamily="34" charset="-122"/>
                          <a:cs typeface="Calibri" pitchFamily="34" charset="-120"/>
                        </a:rPr>
                        <a:t>A write offline that hangs</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10-second timeout and an error message</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r h="640080">
                <a:tc>
                  <a:txBody>
                    <a:bodyPr/>
                    <a:lstStyle/>
                    <a:p>
                      <a:pPr indent="0" marL="0">
                        <a:buNone/>
                      </a:pPr>
                      <a:r>
                        <a:rPr lang="en-US" sz="1300" b="1" dirty="0">
                          <a:solidFill>
                            <a:srgbClr val="1F2D33"/>
                          </a:solidFill>
                          <a:latin typeface="Calibri" pitchFamily="34" charset="0"/>
                          <a:ea typeface="Calibri" pitchFamily="34" charset="-122"/>
                          <a:cs typeface="Calibri" pitchFamily="34" charset="-120"/>
                        </a:rPr>
                        <a:t>One account's data showing in another</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Three-state session, results tagged with the user, reset on logout</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r h="640080">
                <a:tc>
                  <a:txBody>
                    <a:bodyPr/>
                    <a:lstStyle/>
                    <a:p>
                      <a:pPr indent="0" marL="0">
                        <a:buNone/>
                      </a:pPr>
                      <a:r>
                        <a:rPr lang="en-US" sz="1300" b="1" dirty="0">
                          <a:solidFill>
                            <a:srgbClr val="1F2D33"/>
                          </a:solidFill>
                          <a:latin typeface="Calibri" pitchFamily="34" charset="0"/>
                          <a:ea typeface="Calibri" pitchFamily="34" charset="-122"/>
                          <a:cs typeface="Calibri" pitchFamily="34" charset="-120"/>
                        </a:rPr>
                        <a:t>Dash drawn on the wrong segment</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The 'bridged' mark sits on the point that ends the segment</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r h="640080">
                <a:tc>
                  <a:txBody>
                    <a:bodyPr/>
                    <a:lstStyle/>
                    <a:p>
                      <a:pPr indent="0" marL="0">
                        <a:buNone/>
                      </a:pPr>
                      <a:r>
                        <a:rPr lang="en-US" sz="1300" b="1" dirty="0">
                          <a:solidFill>
                            <a:srgbClr val="1F2D33"/>
                          </a:solidFill>
                          <a:latin typeface="Calibri" pitchFamily="34" charset="0"/>
                          <a:ea typeface="Calibri" pitchFamily="34" charset="-122"/>
                          <a:cs typeface="Calibri" pitchFamily="34" charset="-120"/>
                        </a:rPr>
                        <a:t>Firebase 13 just released</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Stay on 12.19; upgrading is a separate task</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r h="640080">
                <a:tc>
                  <a:txBody>
                    <a:bodyPr/>
                    <a:lstStyle/>
                    <a:p>
                      <a:pPr indent="0" marL="0">
                        <a:buNone/>
                      </a:pPr>
                      <a:r>
                        <a:rPr lang="en-US" sz="1300" b="1" dirty="0">
                          <a:solidFill>
                            <a:srgbClr val="1F2D33"/>
                          </a:solidFill>
                          <a:latin typeface="Calibri" pitchFamily="34" charset="0"/>
                          <a:ea typeface="Calibri" pitchFamily="34" charset="-122"/>
                          <a:cs typeface="Calibri" pitchFamily="34" charset="-120"/>
                        </a:rPr>
                        <a:t>Two devices on the same day</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Last write wins (assumption to confirm)</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r h="640080">
                <a:tc>
                  <a:txBody>
                    <a:bodyPr/>
                    <a:lstStyle/>
                    <a:p>
                      <a:pPr indent="0" marL="0">
                        <a:buNone/>
                      </a:pPr>
                      <a:r>
                        <a:rPr lang="en-US" sz="1300" b="1" dirty="0">
                          <a:solidFill>
                            <a:srgbClr val="1F2D33"/>
                          </a:solidFill>
                          <a:latin typeface="Calibri" pitchFamily="34" charset="0"/>
                          <a:ea typeface="Calibri" pitchFamily="34" charset="-122"/>
                          <a:cs typeface="Calibri" pitchFamily="34" charset="-120"/>
                        </a:rPr>
                        <a:t>Rules documented but not followed</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300" dirty="0">
                          <a:solidFill>
                            <a:srgbClr val="1F2D33"/>
                          </a:solidFill>
                          <a:latin typeface="Calibri" pitchFamily="34" charset="0"/>
                          <a:ea typeface="Calibri" pitchFamily="34" charset="-122"/>
                          <a:cs typeface="Calibri" pitchFamily="34" charset="-120"/>
                        </a:rPr>
                        <a:t>Automatic checks fail the build</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08792" cy="822960"/>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The 14 architecture rules at a glance</a:t>
            </a:r>
            <a:endParaRPr lang="en-US" sz="3200" dirty="0"/>
          </a:p>
        </p:txBody>
      </p:sp>
      <p:sp>
        <p:nvSpPr>
          <p:cNvPr id="3" name="Text 1"/>
          <p:cNvSpPr/>
          <p:nvPr/>
        </p:nvSpPr>
        <p:spPr>
          <a:xfrm>
            <a:off x="640080" y="6446520"/>
            <a:ext cx="6400800" cy="27432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Weight4All · Solution Design</a:t>
            </a:r>
            <a:endParaRPr lang="en-US" sz="1000" dirty="0"/>
          </a:p>
        </p:txBody>
      </p:sp>
      <p:sp>
        <p:nvSpPr>
          <p:cNvPr id="4" name="Text 2"/>
          <p:cNvSpPr/>
          <p:nvPr/>
        </p:nvSpPr>
        <p:spPr>
          <a:xfrm>
            <a:off x="10634472" y="6446520"/>
            <a:ext cx="914400" cy="274320"/>
          </a:xfrm>
          <a:prstGeom prst="rect">
            <a:avLst/>
          </a:prstGeom>
          <a:noFill/>
          <a:ln/>
        </p:spPr>
        <p:txBody>
          <a:bodyPr wrap="square" lIns="0" tIns="0" rIns="0" bIns="0" rtlCol="0" anchor="ctr"/>
          <a:lstStyle/>
          <a:p>
            <a:pPr algn="r" indent="0" marL="0">
              <a:buNone/>
            </a:pPr>
            <a:r>
              <a:rPr lang="en-US" sz="1000" dirty="0">
                <a:solidFill>
                  <a:srgbClr val="5B6B72"/>
                </a:solidFill>
                <a:latin typeface="Calibri" pitchFamily="34" charset="0"/>
                <a:ea typeface="Calibri" pitchFamily="34" charset="-122"/>
                <a:cs typeface="Calibri" pitchFamily="34" charset="-120"/>
              </a:rPr>
              <a:t>15</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5349240" cy="914400"/>
        </p:xfrm>
        <a:graphic>
          <a:graphicData uri="http://schemas.openxmlformats.org/drawingml/2006/table">
            <a:tbl>
              <a:tblPr/>
              <a:tblGrid>
                <a:gridCol w="868680"/>
                <a:gridCol w="448056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Rule</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solidFill>
                      <a:srgbClr val="0B3C4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In short</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solidFill>
                      <a:srgbClr val="0B3C49"/>
                    </a:solidFill>
                  </a:tcPr>
                </a:tc>
              </a:tr>
              <a:tr h="566928">
                <a:tc>
                  <a:txBody>
                    <a:bodyPr/>
                    <a:lstStyle/>
                    <a:p>
                      <a:pPr indent="0" marL="0">
                        <a:buNone/>
                      </a:pPr>
                      <a:r>
                        <a:rPr lang="en-US" sz="1300" b="1" dirty="0">
                          <a:solidFill>
                            <a:srgbClr val="028090"/>
                          </a:solidFill>
                          <a:latin typeface="Calibri" pitchFamily="34" charset="0"/>
                          <a:ea typeface="Calibri" pitchFamily="34" charset="-122"/>
                          <a:cs typeface="Calibri" pitchFamily="34" charset="-120"/>
                        </a:rPr>
                        <a:t>AD-1</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200" dirty="0">
                          <a:solidFill>
                            <a:srgbClr val="1F2D33"/>
                          </a:solidFill>
                          <a:latin typeface="Calibri" pitchFamily="34" charset="0"/>
                          <a:ea typeface="Calibri" pitchFamily="34" charset="-122"/>
                          <a:cs typeface="Calibri" pitchFamily="34" charset="-120"/>
                        </a:rPr>
                        <a:t>One data boundary: only core/data imports Firebase</a:t>
                      </a:r>
                      <a:endParaRPr lang="en-US" sz="12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r h="566928">
                <a:tc>
                  <a:txBody>
                    <a:bodyPr/>
                    <a:lstStyle/>
                    <a:p>
                      <a:pPr indent="0" marL="0">
                        <a:buNone/>
                      </a:pPr>
                      <a:r>
                        <a:rPr lang="en-US" sz="1300" b="1" dirty="0">
                          <a:solidFill>
                            <a:srgbClr val="028090"/>
                          </a:solidFill>
                          <a:latin typeface="Calibri" pitchFamily="34" charset="0"/>
                          <a:ea typeface="Calibri" pitchFamily="34" charset="-122"/>
                          <a:cs typeface="Calibri" pitchFamily="34" charset="-120"/>
                        </a:rPr>
                        <a:t>AD-2</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200" dirty="0">
                          <a:solidFill>
                            <a:srgbClr val="1F2D33"/>
                          </a:solidFill>
                          <a:latin typeface="Calibri" pitchFamily="34" charset="0"/>
                          <a:ea typeface="Calibri" pitchFamily="34" charset="-122"/>
                          <a:cs typeface="Calibri" pitchFamily="34" charset="-120"/>
                        </a:rPr>
                        <a:t>One document per day, flat optional fields, full-document writes</a:t>
                      </a:r>
                      <a:endParaRPr lang="en-US" sz="12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r h="566928">
                <a:tc>
                  <a:txBody>
                    <a:bodyPr/>
                    <a:lstStyle/>
                    <a:p>
                      <a:pPr indent="0" marL="0">
                        <a:buNone/>
                      </a:pPr>
                      <a:r>
                        <a:rPr lang="en-US" sz="1300" b="1" dirty="0">
                          <a:solidFill>
                            <a:srgbClr val="028090"/>
                          </a:solidFill>
                          <a:latin typeface="Calibri" pitchFamily="34" charset="0"/>
                          <a:ea typeface="Calibri" pitchFamily="34" charset="-122"/>
                          <a:cs typeface="Calibri" pitchFamily="34" charset="-120"/>
                        </a:rPr>
                        <a:t>AD-3</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200" dirty="0">
                          <a:solidFill>
                            <a:srgbClr val="1F2D33"/>
                          </a:solidFill>
                          <a:latin typeface="Calibri" pitchFamily="34" charset="0"/>
                          <a:ea typeface="Calibri" pitchFamily="34" charset="-122"/>
                          <a:cs typeface="Calibri" pitchFamily="34" charset="-120"/>
                        </a:rPr>
                        <a:t>One registry lists the Dimensions</a:t>
                      </a:r>
                      <a:endParaRPr lang="en-US" sz="12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r h="566928">
                <a:tc>
                  <a:txBody>
                    <a:bodyPr/>
                    <a:lstStyle/>
                    <a:p>
                      <a:pPr indent="0" marL="0">
                        <a:buNone/>
                      </a:pPr>
                      <a:r>
                        <a:rPr lang="en-US" sz="1300" b="1" dirty="0">
                          <a:solidFill>
                            <a:srgbClr val="028090"/>
                          </a:solidFill>
                          <a:latin typeface="Calibri" pitchFamily="34" charset="0"/>
                          <a:ea typeface="Calibri" pitchFamily="34" charset="-122"/>
                          <a:cs typeface="Calibri" pitchFamily="34" charset="-120"/>
                        </a:rPr>
                        <a:t>AD-4</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200" dirty="0">
                          <a:solidFill>
                            <a:srgbClr val="1F2D33"/>
                          </a:solidFill>
                          <a:latin typeface="Calibri" pitchFamily="34" charset="0"/>
                          <a:ea typeface="Calibri" pitchFamily="34" charset="-122"/>
                          <a:cs typeface="Calibri" pitchFamily="34" charset="-120"/>
                        </a:rPr>
                        <a:t>One module owns Days, Ranges and the clock</a:t>
                      </a:r>
                      <a:endParaRPr lang="en-US" sz="12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r h="566928">
                <a:tc>
                  <a:txBody>
                    <a:bodyPr/>
                    <a:lstStyle/>
                    <a:p>
                      <a:pPr indent="0" marL="0">
                        <a:buNone/>
                      </a:pPr>
                      <a:r>
                        <a:rPr lang="en-US" sz="1300" b="1" dirty="0">
                          <a:solidFill>
                            <a:srgbClr val="028090"/>
                          </a:solidFill>
                          <a:latin typeface="Calibri" pitchFamily="34" charset="0"/>
                          <a:ea typeface="Calibri" pitchFamily="34" charset="-122"/>
                          <a:cs typeface="Calibri" pitchFamily="34" charset="-120"/>
                        </a:rPr>
                        <a:t>AD-5</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200" dirty="0">
                          <a:solidFill>
                            <a:srgbClr val="1F2D33"/>
                          </a:solidFill>
                          <a:latin typeface="Calibri" pitchFamily="34" charset="0"/>
                          <a:ea typeface="Calibri" pitchFamily="34" charset="-122"/>
                          <a:cs typeface="Calibri" pitchFamily="34" charset="-120"/>
                        </a:rPr>
                        <a:t>Load once, mutate only through EntryStore, confirm before showing</a:t>
                      </a:r>
                      <a:endParaRPr lang="en-US" sz="12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r h="566928">
                <a:tc>
                  <a:txBody>
                    <a:bodyPr/>
                    <a:lstStyle/>
                    <a:p>
                      <a:pPr indent="0" marL="0">
                        <a:buNone/>
                      </a:pPr>
                      <a:r>
                        <a:rPr lang="en-US" sz="1300" b="1" dirty="0">
                          <a:solidFill>
                            <a:srgbClr val="028090"/>
                          </a:solidFill>
                          <a:latin typeface="Calibri" pitchFamily="34" charset="0"/>
                          <a:ea typeface="Calibri" pitchFamily="34" charset="-122"/>
                          <a:cs typeface="Calibri" pitchFamily="34" charset="-120"/>
                        </a:rPr>
                        <a:t>AD-6</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200" dirty="0">
                          <a:solidFill>
                            <a:srgbClr val="1F2D33"/>
                          </a:solidFill>
                          <a:latin typeface="Calibri" pitchFamily="34" charset="0"/>
                          <a:ea typeface="Calibri" pitchFamily="34" charset="-122"/>
                          <a:cs typeface="Calibri" pitchFamily="34" charset="-120"/>
                        </a:rPr>
                        <a:t>Gaps are missing values, never zeros</a:t>
                      </a:r>
                      <a:endParaRPr lang="en-US" sz="12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r h="566928">
                <a:tc>
                  <a:txBody>
                    <a:bodyPr/>
                    <a:lstStyle/>
                    <a:p>
                      <a:pPr indent="0" marL="0">
                        <a:buNone/>
                      </a:pPr>
                      <a:r>
                        <a:rPr lang="en-US" sz="1300" b="1" dirty="0">
                          <a:solidFill>
                            <a:srgbClr val="028090"/>
                          </a:solidFill>
                          <a:latin typeface="Calibri" pitchFamily="34" charset="0"/>
                          <a:ea typeface="Calibri" pitchFamily="34" charset="-122"/>
                          <a:cs typeface="Calibri" pitchFamily="34" charset="-120"/>
                        </a:rPr>
                        <a:t>AD-7</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200" dirty="0">
                          <a:solidFill>
                            <a:srgbClr val="1F2D33"/>
                          </a:solidFill>
                          <a:latin typeface="Calibri" pitchFamily="34" charset="0"/>
                          <a:ea typeface="Calibri" pitchFamily="34" charset="-122"/>
                          <a:cs typeface="Calibri" pitchFamily="34" charset="-120"/>
                        </a:rPr>
                        <a:t>All UI text in one typed IT/EN dictionary</a:t>
                      </a:r>
                      <a:endParaRPr lang="en-US" sz="12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bl>
          </a:graphicData>
        </a:graphic>
      </p:graphicFrame>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6217920" y="1325880"/>
          <a:ext cx="5349240" cy="914400"/>
        </p:xfrm>
        <a:graphic>
          <a:graphicData uri="http://schemas.openxmlformats.org/drawingml/2006/table">
            <a:tbl>
              <a:tblPr/>
              <a:tblGrid>
                <a:gridCol w="868680"/>
                <a:gridCol w="448056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Rule</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solidFill>
                      <a:srgbClr val="0B3C4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In short</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solidFill>
                      <a:srgbClr val="0B3C49"/>
                    </a:solidFill>
                  </a:tcPr>
                </a:tc>
              </a:tr>
              <a:tr h="566928">
                <a:tc>
                  <a:txBody>
                    <a:bodyPr/>
                    <a:lstStyle/>
                    <a:p>
                      <a:pPr indent="0" marL="0">
                        <a:buNone/>
                      </a:pPr>
                      <a:r>
                        <a:rPr lang="en-US" sz="1300" b="1" dirty="0">
                          <a:solidFill>
                            <a:srgbClr val="028090"/>
                          </a:solidFill>
                          <a:latin typeface="Calibri" pitchFamily="34" charset="0"/>
                          <a:ea typeface="Calibri" pitchFamily="34" charset="-122"/>
                          <a:cs typeface="Calibri" pitchFamily="34" charset="-120"/>
                        </a:rPr>
                        <a:t>AD-8</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200" dirty="0">
                          <a:solidFill>
                            <a:srgbClr val="1F2D33"/>
                          </a:solidFill>
                          <a:latin typeface="Calibri" pitchFamily="34" charset="0"/>
                          <a:ea typeface="Calibri" pitchFamily="34" charset="-122"/>
                          <a:cs typeface="Calibri" pitchFamily="34" charset="-120"/>
                        </a:rPr>
                        <a:t>Security rules are the authority on access and shape</a:t>
                      </a:r>
                      <a:endParaRPr lang="en-US" sz="12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r h="566928">
                <a:tc>
                  <a:txBody>
                    <a:bodyPr/>
                    <a:lstStyle/>
                    <a:p>
                      <a:pPr indent="0" marL="0">
                        <a:buNone/>
                      </a:pPr>
                      <a:r>
                        <a:rPr lang="en-US" sz="1300" b="1" dirty="0">
                          <a:solidFill>
                            <a:srgbClr val="028090"/>
                          </a:solidFill>
                          <a:latin typeface="Calibri" pitchFamily="34" charset="0"/>
                          <a:ea typeface="Calibri" pitchFamily="34" charset="-122"/>
                          <a:cs typeface="Calibri" pitchFamily="34" charset="-120"/>
                        </a:rPr>
                        <a:t>AD-9</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200" dirty="0">
                          <a:solidFill>
                            <a:srgbClr val="1F2D33"/>
                          </a:solidFill>
                          <a:latin typeface="Calibri" pitchFamily="34" charset="0"/>
                          <a:ea typeface="Calibri" pitchFamily="34" charset="-122"/>
                          <a:cs typeface="Calibri" pitchFamily="34" charset="-120"/>
                        </a:rPr>
                        <a:t>One session lifecycle (three states, SessionScope)</a:t>
                      </a:r>
                      <a:endParaRPr lang="en-US" sz="12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r h="566928">
                <a:tc>
                  <a:txBody>
                    <a:bodyPr/>
                    <a:lstStyle/>
                    <a:p>
                      <a:pPr indent="0" marL="0">
                        <a:buNone/>
                      </a:pPr>
                      <a:r>
                        <a:rPr lang="en-US" sz="1300" b="1" dirty="0">
                          <a:solidFill>
                            <a:srgbClr val="028090"/>
                          </a:solidFill>
                          <a:latin typeface="Calibri" pitchFamily="34" charset="0"/>
                          <a:ea typeface="Calibri" pitchFamily="34" charset="-122"/>
                          <a:cs typeface="Calibri" pitchFamily="34" charset="-120"/>
                        </a:rPr>
                        <a:t>AD-10</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200" dirty="0">
                          <a:solidFill>
                            <a:srgbClr val="1F2D33"/>
                          </a:solidFill>
                          <a:latin typeface="Calibri" pitchFamily="34" charset="0"/>
                          <a:ea typeface="Calibri" pitchFamily="34" charset="-122"/>
                          <a:cs typeface="Calibri" pitchFamily="34" charset="-120"/>
                        </a:rPr>
                        <a:t>Theme tokens and accent</a:t>
                      </a:r>
                      <a:endParaRPr lang="en-US" sz="12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r h="566928">
                <a:tc>
                  <a:txBody>
                    <a:bodyPr/>
                    <a:lstStyle/>
                    <a:p>
                      <a:pPr indent="0" marL="0">
                        <a:buNone/>
                      </a:pPr>
                      <a:r>
                        <a:rPr lang="en-US" sz="1300" b="1" dirty="0">
                          <a:solidFill>
                            <a:srgbClr val="028090"/>
                          </a:solidFill>
                          <a:latin typeface="Calibri" pitchFamily="34" charset="0"/>
                          <a:ea typeface="Calibri" pitchFamily="34" charset="-122"/>
                          <a:cs typeface="Calibri" pitchFamily="34" charset="-120"/>
                        </a:rPr>
                        <a:t>AD-11</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200" dirty="0">
                          <a:solidFill>
                            <a:srgbClr val="1F2D33"/>
                          </a:solidFill>
                          <a:latin typeface="Calibri" pitchFamily="34" charset="0"/>
                          <a:ea typeface="Calibri" pitchFamily="34" charset="-122"/>
                          <a:cs typeface="Calibri" pitchFamily="34" charset="-120"/>
                        </a:rPr>
                        <a:t>Two environments; manual release, rules first</a:t>
                      </a:r>
                      <a:endParaRPr lang="en-US" sz="12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r h="566928">
                <a:tc>
                  <a:txBody>
                    <a:bodyPr/>
                    <a:lstStyle/>
                    <a:p>
                      <a:pPr indent="0" marL="0">
                        <a:buNone/>
                      </a:pPr>
                      <a:r>
                        <a:rPr lang="en-US" sz="1300" b="1" dirty="0">
                          <a:solidFill>
                            <a:srgbClr val="028090"/>
                          </a:solidFill>
                          <a:latin typeface="Calibri" pitchFamily="34" charset="0"/>
                          <a:ea typeface="Calibri" pitchFamily="34" charset="-122"/>
                          <a:cs typeface="Calibri" pitchFamily="34" charset="-120"/>
                        </a:rPr>
                        <a:t>AD-12</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200" dirty="0">
                          <a:solidFill>
                            <a:srgbClr val="1F2D33"/>
                          </a:solidFill>
                          <a:latin typeface="Calibri" pitchFamily="34" charset="0"/>
                          <a:ea typeface="Calibri" pitchFamily="34" charset="-122"/>
                          <a:cs typeface="Calibri" pitchFamily="34" charset="-120"/>
                        </a:rPr>
                        <a:t>One Entry form and one draft store</a:t>
                      </a:r>
                      <a:endParaRPr lang="en-US" sz="12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r h="566928">
                <a:tc>
                  <a:txBody>
                    <a:bodyPr/>
                    <a:lstStyle/>
                    <a:p>
                      <a:pPr indent="0" marL="0">
                        <a:buNone/>
                      </a:pPr>
                      <a:r>
                        <a:rPr lang="en-US" sz="1300" b="1" dirty="0">
                          <a:solidFill>
                            <a:srgbClr val="028090"/>
                          </a:solidFill>
                          <a:latin typeface="Calibri" pitchFamily="34" charset="0"/>
                          <a:ea typeface="Calibri" pitchFamily="34" charset="-122"/>
                          <a:cs typeface="Calibri" pitchFamily="34" charset="-120"/>
                        </a:rPr>
                        <a:t>AD-13</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200" dirty="0">
                          <a:solidFill>
                            <a:srgbClr val="1F2D33"/>
                          </a:solidFill>
                          <a:latin typeface="Calibri" pitchFamily="34" charset="0"/>
                          <a:ea typeface="Calibri" pitchFamily="34" charset="-122"/>
                          <a:cs typeface="Calibri" pitchFamily="34" charset="-120"/>
                        </a:rPr>
                        <a:t>Rules that are mechanically enforced</a:t>
                      </a:r>
                      <a:endParaRPr lang="en-US" sz="12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r h="566928">
                <a:tc>
                  <a:txBody>
                    <a:bodyPr/>
                    <a:lstStyle/>
                    <a:p>
                      <a:pPr indent="0" marL="0">
                        <a:buNone/>
                      </a:pPr>
                      <a:r>
                        <a:rPr lang="en-US" sz="1300" b="1" dirty="0">
                          <a:solidFill>
                            <a:srgbClr val="028090"/>
                          </a:solidFill>
                          <a:latin typeface="Calibri" pitchFamily="34" charset="0"/>
                          <a:ea typeface="Calibri" pitchFamily="34" charset="-122"/>
                          <a:cs typeface="Calibri" pitchFamily="34" charset="-120"/>
                        </a:rPr>
                        <a:t>AD-14</a:t>
                      </a:r>
                      <a:endParaRPr lang="en-US" sz="13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c>
                  <a:txBody>
                    <a:bodyPr/>
                    <a:lstStyle/>
                    <a:p>
                      <a:pPr indent="0" marL="0">
                        <a:buNone/>
                      </a:pPr>
                      <a:r>
                        <a:rPr lang="en-US" sz="1200" dirty="0">
                          <a:solidFill>
                            <a:srgbClr val="1F2D33"/>
                          </a:solidFill>
                          <a:latin typeface="Calibri" pitchFamily="34" charset="0"/>
                          <a:ea typeface="Calibri" pitchFamily="34" charset="-122"/>
                          <a:cs typeface="Calibri" pitchFamily="34" charset="-120"/>
                        </a:rPr>
                        <a:t>Numbers: one place parses, rounds and formats</a:t>
                      </a:r>
                      <a:endParaRPr lang="en-US" sz="1200" dirty="0">
                        <a:latin typeface="Calibri" charset="0"/>
                        <a:ea typeface="Calibri" charset="0"/>
                        <a:cs typeface="Calibri" charset="0"/>
                      </a:endParaRPr>
                    </a:p>
                  </a:txBody>
                  <a:tcPr marL="91440" marR="91440" marT="45720" marB="45720">
                    <a:lnL w="12700" cap="flat" cmpd="sng" algn="ctr">
                      <a:solidFill>
                        <a:srgbClr val="D5E5E8"/>
                      </a:solidFill>
                      <a:prstDash val="solid"/>
                      <a:round/>
                      <a:headEnd type="none" w="med" len="med"/>
                      <a:tailEnd type="none" w="med" len="med"/>
                    </a:lnL>
                    <a:lnR w="12700" cap="flat" cmpd="sng" algn="ctr">
                      <a:solidFill>
                        <a:srgbClr val="D5E5E8"/>
                      </a:solidFill>
                      <a:prstDash val="solid"/>
                      <a:round/>
                      <a:headEnd type="none" w="med" len="med"/>
                      <a:tailEnd type="none" w="med" len="med"/>
                    </a:lnR>
                    <a:lnT w="12700" cap="flat" cmpd="sng" algn="ctr">
                      <a:solidFill>
                        <a:srgbClr val="D5E5E8"/>
                      </a:solidFill>
                      <a:prstDash val="solid"/>
                      <a:round/>
                      <a:headEnd type="none" w="med" len="med"/>
                      <a:tailEnd type="none" w="med" len="med"/>
                    </a:lnT>
                    <a:lnB w="12700" cap="flat" cmpd="sng" algn="ctr">
                      <a:solidFill>
                        <a:srgbClr val="D5E5E8"/>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3C49"/>
        </a:solidFill>
      </p:bgPr>
    </p:bg>
    <p:spTree>
      <p:nvGrpSpPr>
        <p:cNvPr id="1" name=""/>
        <p:cNvGrpSpPr/>
        <p:nvPr/>
      </p:nvGrpSpPr>
      <p:grpSpPr>
        <a:xfrm>
          <a:off x="0" y="0"/>
          <a:ext cx="0" cy="0"/>
          <a:chOff x="0" y="0"/>
          <a:chExt cx="0" cy="0"/>
        </a:xfrm>
      </p:grpSpPr>
      <p:sp>
        <p:nvSpPr>
          <p:cNvPr id="2" name="Text 0"/>
          <p:cNvSpPr/>
          <p:nvPr/>
        </p:nvSpPr>
        <p:spPr>
          <a:xfrm>
            <a:off x="640080" y="365760"/>
            <a:ext cx="10908792"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11. Decide later, and next steps</a:t>
            </a:r>
            <a:endParaRPr lang="en-US" sz="3200" dirty="0"/>
          </a:p>
        </p:txBody>
      </p:sp>
      <p:sp>
        <p:nvSpPr>
          <p:cNvPr id="3" name="Text 1"/>
          <p:cNvSpPr/>
          <p:nvPr/>
        </p:nvSpPr>
        <p:spPr>
          <a:xfrm>
            <a:off x="640080" y="6446520"/>
            <a:ext cx="6400800" cy="274320"/>
          </a:xfrm>
          <a:prstGeom prst="rect">
            <a:avLst/>
          </a:prstGeom>
          <a:noFill/>
          <a:ln/>
        </p:spPr>
        <p:txBody>
          <a:bodyPr wrap="square" lIns="0" tIns="0" rIns="0" bIns="0" rtlCol="0" anchor="ctr"/>
          <a:lstStyle/>
          <a:p>
            <a:pPr indent="0" marL="0">
              <a:buNone/>
            </a:pPr>
            <a:r>
              <a:rPr lang="en-US" sz="1000" dirty="0">
                <a:solidFill>
                  <a:srgbClr val="9FC3C9"/>
                </a:solidFill>
                <a:latin typeface="Calibri" pitchFamily="34" charset="0"/>
                <a:ea typeface="Calibri" pitchFamily="34" charset="-122"/>
                <a:cs typeface="Calibri" pitchFamily="34" charset="-120"/>
              </a:rPr>
              <a:t>Weight4All · Solution Design</a:t>
            </a:r>
            <a:endParaRPr lang="en-US" sz="1000" dirty="0"/>
          </a:p>
        </p:txBody>
      </p:sp>
      <p:sp>
        <p:nvSpPr>
          <p:cNvPr id="4" name="Text 2"/>
          <p:cNvSpPr/>
          <p:nvPr/>
        </p:nvSpPr>
        <p:spPr>
          <a:xfrm>
            <a:off x="10634472" y="6446520"/>
            <a:ext cx="914400" cy="274320"/>
          </a:xfrm>
          <a:prstGeom prst="rect">
            <a:avLst/>
          </a:prstGeom>
          <a:noFill/>
          <a:ln/>
        </p:spPr>
        <p:txBody>
          <a:bodyPr wrap="square" lIns="0" tIns="0" rIns="0" bIns="0" rtlCol="0" anchor="ctr"/>
          <a:lstStyle/>
          <a:p>
            <a:pPr algn="r" indent="0" marL="0">
              <a:buNone/>
            </a:pPr>
            <a:r>
              <a:rPr lang="en-US" sz="1000" dirty="0">
                <a:solidFill>
                  <a:srgbClr val="9FC3C9"/>
                </a:solidFill>
                <a:latin typeface="Calibri" pitchFamily="34" charset="0"/>
                <a:ea typeface="Calibri" pitchFamily="34" charset="-122"/>
                <a:cs typeface="Calibri" pitchFamily="34" charset="-120"/>
              </a:rPr>
              <a:t>16</a:t>
            </a:r>
            <a:endParaRPr lang="en-US" sz="1000" dirty="0"/>
          </a:p>
        </p:txBody>
      </p:sp>
      <p:sp>
        <p:nvSpPr>
          <p:cNvPr id="6" name="Shape 3"/>
          <p:cNvSpPr/>
          <p:nvPr/>
        </p:nvSpPr>
        <p:spPr>
          <a:xfrm>
            <a:off x="640080" y="1463040"/>
            <a:ext cx="5394960" cy="4297680"/>
          </a:xfrm>
          <a:prstGeom prst="roundRect">
            <a:avLst>
              <a:gd name="adj" fmla="val 2553"/>
            </a:avLst>
          </a:prstGeom>
          <a:solidFill>
            <a:srgbClr val="114F5E"/>
          </a:solidFill>
          <a:ln w="12700">
            <a:solidFill>
              <a:srgbClr val="114F5E"/>
            </a:solidFill>
            <a:prstDash val="solid"/>
          </a:ln>
        </p:spPr>
      </p:sp>
      <p:sp>
        <p:nvSpPr>
          <p:cNvPr id="7" name="Text 4"/>
          <p:cNvSpPr/>
          <p:nvPr/>
        </p:nvSpPr>
        <p:spPr>
          <a:xfrm>
            <a:off x="822960" y="1572768"/>
            <a:ext cx="5029200" cy="411480"/>
          </a:xfrm>
          <a:prstGeom prst="rect">
            <a:avLst/>
          </a:prstGeom>
          <a:noFill/>
          <a:ln/>
        </p:spPr>
        <p:txBody>
          <a:bodyPr wrap="square" lIns="0" tIns="0" rIns="0" bIns="0" rtlCol="0" anchor="ctr"/>
          <a:lstStyle/>
          <a:p>
            <a:pPr indent="0" marL="0">
              <a:buNone/>
            </a:pPr>
            <a:r>
              <a:rPr lang="en-US" sz="1600" b="1" dirty="0">
                <a:solidFill>
                  <a:srgbClr val="02C39A"/>
                </a:solidFill>
                <a:latin typeface="Cambria" pitchFamily="34" charset="0"/>
                <a:ea typeface="Cambria" pitchFamily="34" charset="-122"/>
                <a:cs typeface="Cambria" pitchFamily="34" charset="-120"/>
              </a:rPr>
              <a:t>Deferred</a:t>
            </a:r>
            <a:endParaRPr lang="en-US" sz="1600" dirty="0"/>
          </a:p>
        </p:txBody>
      </p:sp>
      <p:sp>
        <p:nvSpPr>
          <p:cNvPr id="8" name="Text 5"/>
          <p:cNvSpPr/>
          <p:nvPr/>
        </p:nvSpPr>
        <p:spPr>
          <a:xfrm>
            <a:off x="822960" y="2029968"/>
            <a:ext cx="5029200" cy="3639312"/>
          </a:xfrm>
          <a:prstGeom prst="rect">
            <a:avLst/>
          </a:prstGeom>
          <a:noFill/>
          <a:ln/>
        </p:spPr>
        <p:txBody>
          <a:bodyPr wrap="square" lIns="0" tIns="0" rIns="0" bIns="0" rtlCol="0" anchor="t"/>
          <a:lstStyle/>
          <a:p>
            <a:pPr marL="342900" indent="-342900">
              <a:spcAft>
                <a:spcPts val="500"/>
              </a:spcAft>
              <a:buSzPct val="100000"/>
              <a:buChar char="•"/>
            </a:pPr>
            <a:r>
              <a:rPr lang="en-US" sz="1700" dirty="0">
                <a:solidFill>
                  <a:srgbClr val="FFFFFF"/>
                </a:solidFill>
                <a:latin typeface="Calibri" pitchFamily="34" charset="0"/>
                <a:ea typeface="Calibri" pitchFamily="34" charset="-122"/>
                <a:cs typeface="Calibri" pitchFamily="34" charset="-120"/>
              </a:rPr>
              <a:t>Dark theme</a:t>
            </a:r>
            <a:endParaRPr lang="en-US" sz="1700" dirty="0"/>
          </a:p>
          <a:p>
            <a:pPr marL="342900" indent="-342900">
              <a:spcAft>
                <a:spcPts val="500"/>
              </a:spcAft>
              <a:buSzPct val="100000"/>
              <a:buChar char="•"/>
            </a:pPr>
            <a:r>
              <a:rPr lang="en-US" sz="1700" dirty="0">
                <a:solidFill>
                  <a:srgbClr val="FFFFFF"/>
                </a:solidFill>
                <a:latin typeface="Calibri" pitchFamily="34" charset="0"/>
                <a:ea typeface="Calibri" pitchFamily="34" charset="-122"/>
                <a:cs typeface="Calibri" pitchFamily="34" charset="-120"/>
              </a:rPr>
              <a:t>Custom range in the Report</a:t>
            </a:r>
            <a:endParaRPr lang="en-US" sz="1700" dirty="0"/>
          </a:p>
          <a:p>
            <a:pPr marL="342900" indent="-342900">
              <a:spcAft>
                <a:spcPts val="500"/>
              </a:spcAft>
              <a:buSzPct val="100000"/>
              <a:buChar char="•"/>
            </a:pPr>
            <a:r>
              <a:rPr lang="en-US" sz="1700" dirty="0">
                <a:solidFill>
                  <a:srgbClr val="FFFFFF"/>
                </a:solidFill>
                <a:latin typeface="Calibri" pitchFamily="34" charset="0"/>
                <a:ea typeface="Calibri" pitchFamily="34" charset="-122"/>
                <a:cs typeface="Calibri" pitchFamily="34" charset="-120"/>
              </a:rPr>
              <a:t>CI and a staging environment</a:t>
            </a:r>
            <a:endParaRPr lang="en-US" sz="1700" dirty="0"/>
          </a:p>
          <a:p>
            <a:pPr marL="342900" indent="-342900">
              <a:spcAft>
                <a:spcPts val="500"/>
              </a:spcAft>
              <a:buSzPct val="100000"/>
              <a:buChar char="•"/>
            </a:pPr>
            <a:r>
              <a:rPr lang="en-US" sz="1700" dirty="0">
                <a:solidFill>
                  <a:srgbClr val="FFFFFF"/>
                </a:solidFill>
                <a:latin typeface="Calibri" pitchFamily="34" charset="0"/>
                <a:ea typeface="Calibri" pitchFamily="34" charset="-122"/>
                <a:cs typeface="Calibri" pitchFamily="34" charset="-120"/>
              </a:rPr>
              <a:t>Backup and monitoring</a:t>
            </a:r>
            <a:endParaRPr lang="en-US" sz="1700" dirty="0"/>
          </a:p>
          <a:p>
            <a:pPr marL="342900" indent="-342900">
              <a:spcAft>
                <a:spcPts val="500"/>
              </a:spcAft>
              <a:buSzPct val="100000"/>
              <a:buChar char="•"/>
            </a:pPr>
            <a:r>
              <a:rPr lang="en-US" sz="1700" dirty="0">
                <a:solidFill>
                  <a:srgbClr val="FFFFFF"/>
                </a:solidFill>
                <a:latin typeface="Calibri" pitchFamily="34" charset="0"/>
                <a:ea typeface="Calibri" pitchFamily="34" charset="-122"/>
                <a:cs typeface="Calibri" pitchFamily="34" charset="-120"/>
              </a:rPr>
              <a:t>Upgrade to Firebase 13</a:t>
            </a:r>
            <a:endParaRPr lang="en-US" sz="1700" dirty="0"/>
          </a:p>
        </p:txBody>
      </p:sp>
      <p:sp>
        <p:nvSpPr>
          <p:cNvPr id="9" name="Shape 6"/>
          <p:cNvSpPr/>
          <p:nvPr/>
        </p:nvSpPr>
        <p:spPr>
          <a:xfrm>
            <a:off x="6172200" y="1463040"/>
            <a:ext cx="5394960" cy="4297680"/>
          </a:xfrm>
          <a:prstGeom prst="roundRect">
            <a:avLst>
              <a:gd name="adj" fmla="val 2553"/>
            </a:avLst>
          </a:prstGeom>
          <a:solidFill>
            <a:srgbClr val="114F5E"/>
          </a:solidFill>
          <a:ln w="12700">
            <a:solidFill>
              <a:srgbClr val="114F5E"/>
            </a:solidFill>
            <a:prstDash val="solid"/>
          </a:ln>
        </p:spPr>
      </p:sp>
      <p:sp>
        <p:nvSpPr>
          <p:cNvPr id="10" name="Text 7"/>
          <p:cNvSpPr/>
          <p:nvPr/>
        </p:nvSpPr>
        <p:spPr>
          <a:xfrm>
            <a:off x="6355080" y="1572768"/>
            <a:ext cx="5029200" cy="411480"/>
          </a:xfrm>
          <a:prstGeom prst="rect">
            <a:avLst/>
          </a:prstGeom>
          <a:noFill/>
          <a:ln/>
        </p:spPr>
        <p:txBody>
          <a:bodyPr wrap="square" lIns="0" tIns="0" rIns="0" bIns="0" rtlCol="0" anchor="ctr"/>
          <a:lstStyle/>
          <a:p>
            <a:pPr indent="0" marL="0">
              <a:buNone/>
            </a:pPr>
            <a:r>
              <a:rPr lang="en-US" sz="1600" b="1" dirty="0">
                <a:solidFill>
                  <a:srgbClr val="02C39A"/>
                </a:solidFill>
                <a:latin typeface="Cambria" pitchFamily="34" charset="0"/>
                <a:ea typeface="Cambria" pitchFamily="34" charset="-122"/>
                <a:cs typeface="Cambria" pitchFamily="34" charset="-120"/>
              </a:rPr>
              <a:t>Next steps</a:t>
            </a:r>
            <a:endParaRPr lang="en-US" sz="1600" dirty="0"/>
          </a:p>
        </p:txBody>
      </p:sp>
      <p:sp>
        <p:nvSpPr>
          <p:cNvPr id="11" name="Text 8"/>
          <p:cNvSpPr/>
          <p:nvPr/>
        </p:nvSpPr>
        <p:spPr>
          <a:xfrm>
            <a:off x="6355080" y="2029968"/>
            <a:ext cx="5029200" cy="3639312"/>
          </a:xfrm>
          <a:prstGeom prst="rect">
            <a:avLst/>
          </a:prstGeom>
          <a:noFill/>
          <a:ln/>
        </p:spPr>
        <p:txBody>
          <a:bodyPr wrap="square" lIns="0" tIns="0" rIns="0" bIns="0" rtlCol="0" anchor="t"/>
          <a:lstStyle/>
          <a:p>
            <a:pPr marL="342900" indent="-342900">
              <a:spcAft>
                <a:spcPts val="500"/>
              </a:spcAft>
              <a:buSzPct val="100000"/>
              <a:buChar char="•"/>
            </a:pPr>
            <a:r>
              <a:rPr lang="en-US" sz="1700" dirty="0">
                <a:solidFill>
                  <a:srgbClr val="FFFFFF"/>
                </a:solidFill>
                <a:latin typeface="Calibri" pitchFamily="34" charset="0"/>
                <a:ea typeface="Calibri" pitchFamily="34" charset="-122"/>
                <a:cs typeface="Calibri" pitchFamily="34" charset="-120"/>
              </a:rPr>
              <a:t>Validate the architecture in a fresh chat</a:t>
            </a:r>
            <a:endParaRPr lang="en-US" sz="1700" dirty="0"/>
          </a:p>
          <a:p>
            <a:pPr marL="342900" indent="-342900">
              <a:spcAft>
                <a:spcPts val="500"/>
              </a:spcAft>
              <a:buSzPct val="100000"/>
              <a:buChar char="•"/>
            </a:pPr>
            <a:r>
              <a:rPr lang="en-US" sz="1700" dirty="0">
                <a:solidFill>
                  <a:srgbClr val="FFFFFF"/>
                </a:solidFill>
                <a:latin typeface="Calibri" pitchFamily="34" charset="0"/>
                <a:ea typeface="Calibri" pitchFamily="34" charset="-122"/>
                <a:cs typeface="Calibri" pitchFamily="34" charset="-120"/>
              </a:rPr>
              <a:t>Create epics and stories</a:t>
            </a:r>
            <a:endParaRPr lang="en-US" sz="1700" dirty="0"/>
          </a:p>
          <a:p>
            <a:pPr marL="342900" indent="-342900">
              <a:spcAft>
                <a:spcPts val="500"/>
              </a:spcAft>
              <a:buSzPct val="100000"/>
              <a:buChar char="•"/>
            </a:pPr>
            <a:r>
              <a:rPr lang="en-US" sz="1700" dirty="0">
                <a:solidFill>
                  <a:srgbClr val="FFFFFF"/>
                </a:solidFill>
                <a:latin typeface="Calibri" pitchFamily="34" charset="0"/>
                <a:ea typeface="Calibri" pitchFamily="34" charset="-122"/>
                <a:cs typeface="Calibri" pitchFamily="34" charset="-120"/>
              </a:rPr>
              <a:t>Readiness check and sprint planning</a:t>
            </a:r>
            <a:endParaRPr lang="en-US" sz="1700" dirty="0"/>
          </a:p>
          <a:p>
            <a:pPr marL="342900" indent="-342900">
              <a:spcAft>
                <a:spcPts val="500"/>
              </a:spcAft>
              <a:buSzPct val="100000"/>
              <a:buChar char="•"/>
            </a:pPr>
            <a:r>
              <a:rPr lang="en-US" sz="1700" dirty="0">
                <a:solidFill>
                  <a:srgbClr val="FFFFFF"/>
                </a:solidFill>
                <a:latin typeface="Calibri" pitchFamily="34" charset="0"/>
                <a:ea typeface="Calibri" pitchFamily="34" charset="-122"/>
                <a:cs typeface="Calibri" pitchFamily="34" charset="-120"/>
              </a:rPr>
              <a:t>First build: F0, foundations and shell</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Weight4All — Solution Design</dc:title>
  <dc:subject>PptxGenJS Presentation</dc:subject>
  <dc:creator>PptxGenJS</dc:creator>
  <cp:lastModifiedBy>PptxGenJS</cp:lastModifiedBy>
  <cp:revision>1</cp:revision>
  <dcterms:created xsi:type="dcterms:W3CDTF">2026-10-19T21:40:20Z</dcterms:created>
  <dcterms:modified xsi:type="dcterms:W3CDTF">2026-10-19T21:40:20Z</dcterms:modified>
</cp:coreProperties>
</file>